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d58d8193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ad58d8193_5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ad58d8193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ad58d8193_3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d58d8193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9ad58d8193_3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ad58d8193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ad58d8193_3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ad58d8193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9ad58d8193_3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d58d8193_3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9ad58d8193_3_1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ad58d8193_3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ad58d8193_3_1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40200" y="1604500"/>
            <a:ext cx="84636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latin typeface="Arial"/>
                <a:ea typeface="Arial"/>
                <a:cs typeface="Arial"/>
                <a:sym typeface="Arial"/>
              </a:rPr>
              <a:t>Recurrent Neural Networks, Transformers, and Attention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/>
        </p:nvSpPr>
        <p:spPr>
          <a:xfrm>
            <a:off x="490600" y="182575"/>
            <a:ext cx="8229600" cy="3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Sequence Modeling</a:t>
            </a:r>
            <a:endParaRPr b="1" sz="2400" u="sng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Sequence modeling involves predicting or generating outputs based on sequential data such as time series, text, or audio.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Example: Predicting the next position of a moving ball based on its prior trajectory.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Sequential data is ubiquitous: speech, text, ECG signals, stock prices, biological sequences, weather, video, etc.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Common tasks include: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Single input to single output (classification).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Sequence input to single output (e.g., sentiment classification).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Sequence input to sequence output (e.g., language translation, text generation).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457200" y="195950"/>
            <a:ext cx="8229600" cy="53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dk2"/>
                </a:solidFill>
              </a:rPr>
              <a:t>Feedforward Networks to Recurrent Neural Networks (RNNs)</a:t>
            </a:r>
            <a:endParaRPr b="1" sz="2000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Feedforward networks operate on static inputs with no notion of time or sequence.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Processing each time step independently ignores temporal dependencies.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RNNs introduce an internal hidden state ( h_t ) that carries information from previous time steps, enabling memory and temporal dependency modeling.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The hidden state is updated recurrently: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[ h_t = f(W_{xh} x_t + W_{hh} h_{t-1}) ]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Output at each time step depends on both current input and hidden state.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RNNs can be visualized as cyclic graphs or unrolled over time steps.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480975" y="126900"/>
            <a:ext cx="82698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</a:rPr>
              <a:t>Training RNNs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Loss is computed at each time step and summed over the sequence.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Backpropagation Through Time (BPTT) propagates gradients through the unrolled network.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Challenges include: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Vanishing gradients (gradients shrink exponentially).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Exploding gradients (gradients grow exponentially).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These issues make it difficult for RNNs to learn long-term dependencies.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/>
        </p:nvSpPr>
        <p:spPr>
          <a:xfrm>
            <a:off x="457200" y="-100200"/>
            <a:ext cx="8229600" cy="43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Improvements to RNNs: LS</a:t>
            </a:r>
            <a:r>
              <a:rPr b="1" lang="en-GB" sz="2400">
                <a:solidFill>
                  <a:schemeClr val="dk2"/>
                </a:solidFill>
              </a:rPr>
              <a:t>T</a:t>
            </a:r>
            <a:r>
              <a:rPr b="1" lang="en-GB" sz="2400">
                <a:solidFill>
                  <a:schemeClr val="dk2"/>
                </a:solidFill>
              </a:rPr>
              <a:t>Ms</a:t>
            </a:r>
            <a:endParaRPr b="1" sz="2400" u="sng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Long Short-Term Memory (LSTM) networks add gating mechanisms to control information flow.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They help mitigate vanishing/exploding gradient problems and better capture long-term dependencies.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/>
        </p:nvSpPr>
        <p:spPr>
          <a:xfrm>
            <a:off x="457200" y="-100200"/>
            <a:ext cx="8229600" cy="4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Practical Example: Language Modeling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Task: Predict the next word in a sentence given previous words.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Words must be vectorized (numericalized) before feeding into neural networks.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Common vectorization methods: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One-hot encoding: Sparse vectors with a single 1 at the word index.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Learned embeddings: Dense, lower-dimensional vectors learned during training.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Sequence length variability and long-range dependencies make modeling challenging.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/>
        </p:nvSpPr>
        <p:spPr>
          <a:xfrm>
            <a:off x="430475" y="160300"/>
            <a:ext cx="8229600" cy="1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</a:rPr>
              <a:t>Limitations of RNNs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Fixed-size hidden state limits information capacity (bottleneck).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Sequential processing limits parallelization and efficiency.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Difficulty in capturing very long-range dependencies.</a:t>
            </a:r>
            <a:endParaRPr b="1" sz="18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/>
        </p:nvSpPr>
        <p:spPr>
          <a:xfrm>
            <a:off x="430475" y="160300"/>
            <a:ext cx="8229600" cy="4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Attention and Transformers</a:t>
            </a:r>
            <a:endParaRPr b="1" sz="2400" u="sng"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Can we model sequences without step-by-step recurrence?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Naive approach: Concatenate all inputs and feed to a feedforward network—loses order and is inefficient.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Attention mechanism enables models to “attend” to important parts of the input sequence dynamically.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Inspired by human selective attention and search: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Query:</a:t>
            </a:r>
            <a:r>
              <a:rPr lang="en-GB">
                <a:solidFill>
                  <a:schemeClr val="dk1"/>
                </a:solidFill>
              </a:rPr>
              <a:t> What we want to find.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Keys:</a:t>
            </a:r>
            <a:r>
              <a:rPr lang="en-GB">
                <a:solidFill>
                  <a:schemeClr val="dk1"/>
                </a:solidFill>
              </a:rPr>
              <a:t> Descriptors of data elements.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Values:</a:t>
            </a:r>
            <a:r>
              <a:rPr lang="en-GB">
                <a:solidFill>
                  <a:schemeClr val="dk1"/>
                </a:solidFill>
              </a:rPr>
              <a:t> Data elements associated with keys.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Attention computes similarity (via dot product) between queries and keys, applies softmax to get weights, and uses these weights to combine values.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This allows the model to relate different parts of the sequence regardless of their distance.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Transformers use multi-head self-attention to capture diverse relationships simultaneously.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>
                <a:solidFill>
                  <a:schemeClr val="dk1"/>
                </a:solidFill>
              </a:rPr>
              <a:t>Positional embeddings encode order information since attention alone is order-agnostic.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/>
        </p:nvSpPr>
        <p:spPr>
          <a:xfrm>
            <a:off x="430475" y="160300"/>
            <a:ext cx="8229600" cy="4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chemeClr val="dk2"/>
                </a:solidFill>
              </a:rPr>
              <a:t>Applications and Extensions</a:t>
            </a:r>
            <a:endParaRPr b="1" sz="24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Transformers have revolutionized natural language processing (e.g., GPT, ChatGPT).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Extended to other domains: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Biological sequence analysis.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Vision Transformers (ViT) for image processing.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Students will get hands-on experience with RNNs and Transformers in course labs.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4"/>
          <p:cNvSpPr txBox="1"/>
          <p:nvPr/>
        </p:nvSpPr>
        <p:spPr>
          <a:xfrm>
            <a:off x="430475" y="160300"/>
            <a:ext cx="8229600" cy="60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2"/>
                </a:solidFill>
              </a:rPr>
              <a:t>Methodology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</a:rPr>
              <a:t>Building an RNN from Scratch (Pseudo-code Outline)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-GB" sz="900">
                <a:solidFill>
                  <a:schemeClr val="dk1"/>
                </a:solidFill>
              </a:rPr>
              <a:t>Initialize hidden state ( h_0 = 0 ).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-GB" sz="900">
                <a:solidFill>
                  <a:schemeClr val="dk1"/>
                </a:solidFill>
              </a:rPr>
              <a:t>For each input in the sequence: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Update hidden state using current input and previous hidden state.</a:t>
            </a:r>
            <a:endParaRPr sz="900">
              <a:solidFill>
                <a:schemeClr val="dk1"/>
              </a:solidFill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</a:pPr>
            <a:r>
              <a:rPr lang="en-GB" sz="900">
                <a:solidFill>
                  <a:schemeClr val="dk1"/>
                </a:solidFill>
              </a:rPr>
              <a:t>Generate output prediction from hidden state.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-GB" sz="900">
                <a:solidFill>
                  <a:schemeClr val="dk1"/>
                </a:solidFill>
              </a:rPr>
              <a:t>Use predictions to compute loss at each time step.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-GB" sz="900">
                <a:solidFill>
                  <a:schemeClr val="dk1"/>
                </a:solidFill>
              </a:rPr>
              <a:t>Train using backpropagation through time.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</a:rPr>
              <a:t>Vectorizing Text Input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Define a fixed vocabulary.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Map each word to an index.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Convert indices to one-hot vectors or embeddings.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</a:rPr>
              <a:t>Attention Mechanism Steps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-GB" sz="900">
                <a:solidFill>
                  <a:schemeClr val="dk1"/>
                </a:solidFill>
              </a:rPr>
              <a:t>Compute query, key, and value matrices from input embeddings.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-GB" sz="900">
                <a:solidFill>
                  <a:schemeClr val="dk1"/>
                </a:solidFill>
              </a:rPr>
              <a:t>Calculate dot product similarity between queries and keys.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-GB" sz="900">
                <a:solidFill>
                  <a:schemeClr val="dk1"/>
                </a:solidFill>
              </a:rPr>
              <a:t>Scale and apply softmax to get attention weights.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-GB" sz="900">
                <a:solidFill>
                  <a:schemeClr val="dk1"/>
                </a:solidFill>
              </a:rPr>
              <a:t>Multiply attention weights by values to get weighted output features.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</a:rPr>
              <a:t>Training RNNs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Compute loss at each time step.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Sum losses over the sequence.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GB" sz="900">
                <a:solidFill>
                  <a:schemeClr val="dk1"/>
                </a:solidFill>
              </a:rPr>
              <a:t>Backpropagate errors through time steps (BPTT).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