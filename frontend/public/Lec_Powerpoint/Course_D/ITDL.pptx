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d58d8193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ad58d8193_5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ad58d8193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ad58d8193_3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d58d8193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9ad58d8193_3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ad58d8193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ad58d8193_3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ad58d8193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ad58d8193_3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amazon.com/dp/B0DYVV52B2?tag=dtdgstoreid08-2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amazon.com/dp/1801819319?tag=dtdgstoreid08-20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amazon.com/dp/B0DYVV52B2?tag=dtdgstoreid08-20" TargetMode="External"/><Relationship Id="rId4" Type="http://schemas.openxmlformats.org/officeDocument/2006/relationships/hyperlink" Target="https://www.amazon.com/dp/B0DYVV52B2?tag=dtdgstoreid08-20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Calibri"/>
              <a:buNone/>
            </a:pPr>
            <a:r>
              <a:rPr lang="en-GB" sz="5200"/>
              <a:t>Introduction to Deep Learning</a:t>
            </a:r>
            <a:endParaRPr sz="5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457200" y="28950"/>
            <a:ext cx="8229600" cy="3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2"/>
                </a:solidFill>
              </a:rPr>
              <a:t>What is Intelligence, AI, Machine Learning, and Deep Learning?</a:t>
            </a:r>
            <a:endParaRPr b="1" sz="18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Intelligence:</a:t>
            </a:r>
            <a:r>
              <a:rPr lang="en-GB">
                <a:solidFill>
                  <a:schemeClr val="dk1"/>
                </a:solidFill>
              </a:rPr>
              <a:t> Ability to process information to inform future decisions.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Artificial Intelligence (AI):</a:t>
            </a:r>
            <a:r>
              <a:rPr lang="en-GB">
                <a:solidFill>
                  <a:schemeClr val="dk1"/>
                </a:solidFill>
              </a:rPr>
              <a:t> Algorithms designed to mimic this decision-making process.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Machine Learning (ML):</a:t>
            </a:r>
            <a:r>
              <a:rPr lang="en-GB">
                <a:solidFill>
                  <a:schemeClr val="dk1"/>
                </a:solidFill>
              </a:rPr>
              <a:t> Subset of AI where models learn patterns from data rather than being explicitly programmed.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Deep Learning (DL):</a:t>
            </a:r>
            <a:r>
              <a:rPr lang="en-GB">
                <a:solidFill>
                  <a:schemeClr val="dk1"/>
                </a:solidFill>
              </a:rPr>
              <a:t> Subset of ML using deep</a:t>
            </a:r>
            <a:r>
              <a:rPr lang="en-GB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>
                <a:solidFill>
                  <a:schemeClr val="dk1"/>
                </a:solidFill>
              </a:rPr>
              <a:t>neural networks to learn hierarchical features directly from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457200" y="42300"/>
            <a:ext cx="8229600" cy="53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Why Deep Learning and Why Now?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Traditional ML requires manual feature engineering, which is often brittle.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Deep learning automates feature learning in a hierarchical manner (e.g., detecting lines → curves → facial components → faces).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Recent explosion in deep learning progress is driven by: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Availability of large datasets.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Powerful and commoditized compute (especially GPUs).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Open-source software frameworks (TensorFlow,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PyTorch).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480975" y="126900"/>
            <a:ext cx="8269800" cy="42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Fundamentals of Neural Networks</a:t>
            </a:r>
            <a:endParaRPr b="1" sz="2400" u="sng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Perceptron (Single Neuron):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Inputs (x_1, x_2, …, x_m) multiplied by weights (w_1, w_2, …, w_m).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Weighted sum plus a bias term (b).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Passed through a nonlinear activation function (g(\cdot)) (e.g., sigmoid, ReLU).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Activation functions introduce nonlinearity, enabling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neural networks to approximate complex functions.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Multi-output networks are formed by multiple perceptrons (dense layers).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Deep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neural networks are created by stacking multiple layers of linear transformations and nonlinearities.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457200" y="-100200"/>
            <a:ext cx="8229600" cy="3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</a:rPr>
              <a:t>Example: Predicting Passing Probability for the Class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Model inputs: Number of lectures attended, hours spent on final project.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Output: Probability of passing (binary classification).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Initial untrained model performs poorly; requires training on historical data.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/>
        </p:nvSpPr>
        <p:spPr>
          <a:xfrm>
            <a:off x="457200" y="-100200"/>
            <a:ext cx="8229600" cy="3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Gradient Descent Variants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Full Batch Gradient Descent:</a:t>
            </a:r>
            <a:r>
              <a:rPr lang="en-GB" sz="1800">
                <a:solidFill>
                  <a:schemeClr val="dk1"/>
                </a:solidFill>
              </a:rPr>
              <a:t> Compute gradients over entire dataset (expensive).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Stochastic Gradient Descent (SGD):</a:t>
            </a:r>
            <a:r>
              <a:rPr lang="en-GB" sz="1800">
                <a:solidFill>
                  <a:schemeClr val="dk1"/>
                </a:solidFill>
              </a:rPr>
              <a:t> Compute gradient on a single random data point (noisy but fast).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Mini-batch Gradient Descent:</a:t>
            </a:r>
            <a:r>
              <a:rPr lang="en-GB" sz="1800">
                <a:solidFill>
                  <a:schemeClr val="dk1"/>
                </a:solidFill>
              </a:rPr>
              <a:t> Compute gradients on small batches (e.g., 32 or 128 samples), balancing speed and stability, enabling GPU parallelism.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/>
        </p:nvSpPr>
        <p:spPr>
          <a:xfrm>
            <a:off x="430475" y="160300"/>
            <a:ext cx="8229600" cy="3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Overfitting and Regularization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Overfitting: Model memorizes training data but performs poorly on unseen data.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Goal: Generalize well to new, unseen data.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Dropout:</a:t>
            </a:r>
            <a:r>
              <a:rPr lang="en-GB" sz="1800">
                <a:solidFill>
                  <a:schemeClr val="dk1"/>
                </a:solidFill>
              </a:rPr>
              <a:t> Randomly zero out activations during training to reduce reliance on any single neuron and encourage multiple pathways.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Early Stopping:</a:t>
            </a:r>
            <a:r>
              <a:rPr lang="en-GB" sz="1800">
                <a:solidFill>
                  <a:schemeClr val="dk1"/>
                </a:solidFill>
              </a:rPr>
              <a:t> Monitor validation loss and stop training when validation loss starts increasing (to avoid overfitting).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Splitting data into training and validation sets is critical for monitoring generalization.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/>
        </p:nvSpPr>
        <p:spPr>
          <a:xfrm>
            <a:off x="430475" y="160300"/>
            <a:ext cx="8229600" cy="51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2"/>
                </a:solidFill>
              </a:rPr>
              <a:t>Methodology</a:t>
            </a:r>
            <a:endParaRPr b="1" sz="18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Building a Neural Network:</a:t>
            </a:r>
            <a:br>
              <a:rPr b="1" lang="en-GB" sz="1000">
                <a:solidFill>
                  <a:schemeClr val="dk1"/>
                </a:solidFill>
              </a:rPr>
            </a:br>
            <a:endParaRPr b="1"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Define inputs and outputs.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Initialize weights and biases.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Compute weighted sums and apply nonlinear activation.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Stack layers to form deep networks.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Training Procedure:</a:t>
            </a:r>
            <a:br>
              <a:rPr b="1" lang="en-GB" sz="1000">
                <a:solidFill>
                  <a:schemeClr val="dk1"/>
                </a:solidFill>
              </a:rPr>
            </a:br>
            <a:endParaRPr b="1"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Define a loss function appropriate for the task.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Use backpropagation to compute gradients.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Update weights via gradient descent (or variants).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Adjust learning rate carefully, possibly using adaptive schedulers.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Use mini-batches for efficient and stable training.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Monitor validation loss for early stopping.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Regularization Techniques:</a:t>
            </a:r>
            <a:br>
              <a:rPr b="1" lang="en-GB" sz="1000">
                <a:solidFill>
                  <a:schemeClr val="dk1"/>
                </a:solidFill>
              </a:rPr>
            </a:br>
            <a:endParaRPr b="1"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Implement dropout by randomly zeroing neuron activations during training.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Use early stopping based on validation performance.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Ensure proper train-validation splits.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Software Labs:</a:t>
            </a:r>
            <a:br>
              <a:rPr b="1" lang="en-GB" sz="1000">
                <a:solidFill>
                  <a:schemeClr val="dk1"/>
                </a:solidFill>
              </a:rPr>
            </a:br>
            <a:endParaRPr b="1"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Hands-on exercises with TensorFlow and PyTorch.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Build models for music generation, facial detection, and large language model fine-tuning.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GB" sz="1000">
                <a:solidFill>
                  <a:schemeClr val="dk1"/>
                </a:solidFill>
              </a:rPr>
              <a:t>Participate in competitions for prizes.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