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d58d8193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ad58d8193_3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d58d8193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ad58d8193_3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d58d8193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ad58d8193_3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ad58d8193_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ad58d8193_3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d58d8193_3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ad58d8193_3_1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579350" y="1824975"/>
            <a:ext cx="5985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latin typeface="Arial"/>
                <a:ea typeface="Arial"/>
                <a:cs typeface="Arial"/>
                <a:sym typeface="Arial"/>
              </a:rPr>
              <a:t>Convolutional Neural Networks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90600" y="182575"/>
            <a:ext cx="82296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Vision in Deep Learning</a:t>
            </a:r>
            <a:endParaRPr b="1" sz="2400" u="sng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Vision is a fundamental human sense used for interpreting emotions, navigating, and interacting with the environment.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The goal is to give computers the ability to “see” and understand the physical world from raw visual inputs.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Vision involves not just static recognition (“what is where”) but also understanding dynamics (movement, changes over time).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Computer vision powered by deep learning is revolutionizing fields such as robotics, healthcare, autonomous driving, and mobile computing.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195950"/>
            <a:ext cx="8229600" cy="5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Images as Data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Images are represented as arrays of numbers: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Grayscale images: 2D arrays (height × width).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Color images: 3D arrays (height × width × 3 color channels: RGB).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This numeric representation makes images easier to process compared to language.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0975" y="126900"/>
            <a:ext cx="8269800" cy="3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Machine Learning Tasks in Vision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Two primary tasks: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Regression:</a:t>
            </a:r>
            <a:r>
              <a:rPr lang="en-GB" sz="1800">
                <a:solidFill>
                  <a:schemeClr val="dk1"/>
                </a:solidFill>
              </a:rPr>
              <a:t> Output continuous values (e.g., steering angles).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Classification:</a:t>
            </a:r>
            <a:r>
              <a:rPr lang="en-GB" sz="1800">
                <a:solidFill>
                  <a:schemeClr val="dk1"/>
                </a:solidFill>
              </a:rPr>
              <a:t> Output discrete class labels (e.g., identifying a face or a president).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Classification requires feature detection: identifying unique features that distinguish one class from another.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457200" y="-100200"/>
            <a:ext cx="8229600" cy="6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Feature Detection and Challenges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Feature detection is hierarchical and recursive (e.g., detecting a face by detecting eyes, noses, ears).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Variations such as scale, orientation, lighting, and occlusions make feature detection challenging.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Traditional machine learning requires manual feature definition, which is difficult and brittle.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Deep learning automatically learns features from data, building hierarchical representations through layers.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457200" y="-100200"/>
            <a:ext cx="8229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Limitations of Fully Connected Networks for Images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Flattening images into 1D vectors destroys spatial relationships between pixels.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Fully connected layers lead to very large numbers of parameters and inefficient models.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Spatial structure is crucial and should be preserved in the model architecture.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/>
        </p:nvSpPr>
        <p:spPr>
          <a:xfrm>
            <a:off x="430475" y="160300"/>
            <a:ext cx="8229600" cy="5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Convolutional Neural Networks (CNNs)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CNNs preserve spatial information by connecting neurons only to local patches of the input image.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Convolution operation:</a:t>
            </a:r>
            <a:r>
              <a:rPr lang="en-GB" sz="1800">
                <a:solidFill>
                  <a:schemeClr val="dk1"/>
                </a:solidFill>
              </a:rPr>
              <a:t> A small filter (kernel) slides over the image, performing element-wise multiplication and summation to detect features.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Filters detect local patterns like edges, diagonals, or crossings (e.g., parts of an “X”).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Filters are learned during training, not hand-engineered.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Multiple filters per layer detect different features, creating a volume of feature maps.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Nonlinear activation functions (e.g., ReLU) are applied after convolution to introduce nonlinearity and expressivity.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Pooling layers (e.g., max pooling) downsample feature maps to increase receptive fields and reduce dimensionality.</a:t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/>
        </p:nvSpPr>
        <p:spPr>
          <a:xfrm>
            <a:off x="430475" y="160300"/>
            <a:ext cx="8229600" cy="3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Learning Filters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Filters start as random weights and are optimized via backpropagation using labeled data.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Visualization of learned filters shows progression from edge detectors to complex features like eyes and full facial structures.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430475" y="160300"/>
            <a:ext cx="8229600" cy="4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CNN Architecture and Layers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CNNs consist of multiple layers of convolutions, nonlinearities, and pooling.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Early layers detect simple features; deeper layers detect complex, hierarchical features.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After feature extraction, the feature maps are flattened and passed to a classifier (e.g., softmax layer) for final prediction.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/>
        </p:nvSpPr>
        <p:spPr>
          <a:xfrm>
            <a:off x="430475" y="160300"/>
            <a:ext cx="8229600" cy="4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Applications Beyond Classification</a:t>
            </a:r>
            <a:endParaRPr b="1" sz="2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CNNs can be adapted for: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Object Detection:</a:t>
            </a:r>
            <a:r>
              <a:rPr lang="en-GB">
                <a:solidFill>
                  <a:schemeClr val="dk1"/>
                </a:solidFill>
              </a:rPr>
              <a:t> Predict class and bounding boxes for multiple objects.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</a:rPr>
              <a:t>Naive approach: sliding windows and classifying each box (computationally expensive).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</a:rPr>
              <a:t>Advanced approach: Region Proposal Networks (R-CNN) that learn to propose regions and classify them end-to-end.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Semantic Segmentation:</a:t>
            </a:r>
            <a:r>
              <a:rPr lang="en-GB">
                <a:solidFill>
                  <a:schemeClr val="dk1"/>
                </a:solidFill>
              </a:rPr>
              <a:t> Classify every pixel in an image (e.g., segmenting cows, grass, sky).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</a:rPr>
              <a:t>Uses convolutional layers with upsampling instead of downsampling.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Autonomous Driving:</a:t>
            </a:r>
            <a:r>
              <a:rPr lang="en-GB">
                <a:solidFill>
                  <a:schemeClr val="dk1"/>
                </a:solidFill>
              </a:rPr>
              <a:t> Predict continuous control signals (e.g., steering angles) from raw camera input and maps.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</a:rPr>
              <a:t>Model learns features for driving in new, unseen environments without prior mapping.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/>
        </p:nvSpPr>
        <p:spPr>
          <a:xfrm>
            <a:off x="430475" y="160300"/>
            <a:ext cx="82296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Summary and Impact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CNNs have transformed computer vision by enabling automatic feature learning and hierarchical representation.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Core operations: convolution, nonlinearities, pooling.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CNNs are versatile and form the backbone of many applications in vision and beyond.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lecture concludes by transitioning to generative deep learning, which focuses on learning to generate new data.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/>
        </p:nvSpPr>
        <p:spPr>
          <a:xfrm>
            <a:off x="430475" y="160300"/>
            <a:ext cx="8229600" cy="5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2"/>
                </a:solidFill>
              </a:rPr>
              <a:t>Methodologies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chemeClr val="dk1"/>
                </a:solidFill>
              </a:rPr>
              <a:t>Representing Images for CNNs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Use 2D arrays for grayscale or 3D arrays for color images.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Preserve spatial structure; avoid flattening images prematurely.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chemeClr val="dk1"/>
                </a:solidFill>
              </a:rPr>
              <a:t>Building CNN Layers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GB" sz="800">
                <a:solidFill>
                  <a:schemeClr val="dk1"/>
                </a:solidFill>
              </a:rPr>
              <a:t>Convolution:</a:t>
            </a:r>
            <a:endParaRPr b="1"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Define small filters (e.g., 3×3, 4×4).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Slide filter over image patches.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Perform element-wise multiplication and sum.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Apply bias and nonlinearity (e.g., ReLU).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GB" sz="800">
                <a:solidFill>
                  <a:schemeClr val="dk1"/>
                </a:solidFill>
              </a:rPr>
              <a:t>Nonlinearity:</a:t>
            </a:r>
            <a:endParaRPr b="1"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Use ReLU to threshold negative values to zero.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GB" sz="800">
                <a:solidFill>
                  <a:schemeClr val="dk1"/>
                </a:solidFill>
              </a:rPr>
              <a:t>Pooling:</a:t>
            </a:r>
            <a:endParaRPr b="1"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Apply max pooling (e.g., 2×2) to downsample feature maps.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GB" sz="800">
                <a:solidFill>
                  <a:schemeClr val="dk1"/>
                </a:solidFill>
              </a:rPr>
              <a:t>This increases receptive field and reduces computational load.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chemeClr val="dk1"/>
                </a:solidFill>
              </a:rPr>
              <a:t>Training CNNs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Initialize filters randomly.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Use backpropagation to optimize filters based on labeled data.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Visualize learned filters to understand what features the network detects.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chemeClr val="dk1"/>
                </a:solidFill>
              </a:rPr>
              <a:t>Extending CNNs for Complex Tasks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For object detection, use region proposal networks to learn bounding boxes and classes jointly.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For segmentation, use upsampling layers to maintain spatial resolution and classify each pixel.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GB" sz="800">
                <a:solidFill>
                  <a:schemeClr val="dk1"/>
                </a:solidFill>
              </a:rPr>
              <a:t>For regression tasks (e.g., steering angle prediction), combine multiple inputs and regress continuous outputs.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