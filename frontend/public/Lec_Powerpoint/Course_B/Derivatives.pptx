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ad58d8193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ad58d8193_5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ad58d8193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9ad58d8193_5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ad58d8193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9ad58d8193_5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ad58d8193_5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9ad58d8193_5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ad58d8193_3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9ad58d8193_3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ad58d8193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9ad58d8193_3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ad58d8193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9ad58d8193_3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ad58d8193_3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9ad58d8193_3_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ad58d8193_3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9ad58d8193_3_3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ad58d8193_3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9ad58d8193_3_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ad58d8193_3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9ad58d8193_3_4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ad58d8193_3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9ad58d8193_3_6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ad58d8193_3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9ad58d8193_3_6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ad58d8193_3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9ad58d8193_3_6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5200"/>
              <a:t>Derivatives</a:t>
            </a:r>
            <a:endParaRPr sz="5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/>
        </p:nvSpPr>
        <p:spPr>
          <a:xfrm>
            <a:off x="457200" y="28950"/>
            <a:ext cx="8229600" cy="4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Power Rule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1"/>
                </a:solidFill>
              </a:rPr>
              <a:t>– d/dx (xⁿ) = </a:t>
            </a:r>
            <a:r>
              <a:rPr b="1" lang="en-GB" sz="2400">
                <a:solidFill>
                  <a:schemeClr val="dk1"/>
                </a:solidFill>
              </a:rPr>
              <a:t>n·xⁿ⁻¹</a:t>
            </a:r>
            <a:endParaRPr b="1" sz="2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1"/>
                </a:solidFill>
              </a:rPr>
              <a:t>– Examples: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1"/>
                </a:solidFill>
              </a:rPr>
              <a:t>– d/dx (x²) = 2x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1"/>
                </a:solidFill>
              </a:rPr>
              <a:t>– d/dx (x³) = 3x²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1"/>
                </a:solidFill>
              </a:rPr>
              <a:t>– d/dx (x⁴) = 4x³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400">
                <a:solidFill>
                  <a:schemeClr val="dk1"/>
                </a:solidFill>
              </a:rPr>
              <a:t>– d/dx (x⁵) = 5x⁴</a:t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/>
        </p:nvSpPr>
        <p:spPr>
          <a:xfrm>
            <a:off x="457200" y="42300"/>
            <a:ext cx="82296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Constant Multiple Rule</a:t>
            </a:r>
            <a:endParaRPr b="1" sz="4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– d/dx [c·f(x)] = c·f′(x)</a:t>
            </a:r>
            <a:endParaRPr sz="26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– Examples:</a:t>
            </a:r>
            <a:endParaRPr sz="26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– d/dx (4x⁷) = 4·7x⁶ = 28x⁶</a:t>
            </a:r>
            <a:endParaRPr sz="26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– d/dx (8x⁴) = 8·4x³ = 32x³</a:t>
            </a:r>
            <a:endParaRPr sz="26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– d/dx (5x⁶) = 5·6x⁵ = 30x⁵</a:t>
            </a:r>
            <a:endParaRPr sz="26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– d/dx (9x⁵) = 9·5x⁴ = 45x⁴</a:t>
            </a:r>
            <a:endParaRPr sz="26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– d/dx (6x⁷) = 6·7x⁶ = 42x⁶</a:t>
            </a:r>
            <a:endParaRPr sz="26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/>
        </p:nvSpPr>
        <p:spPr>
          <a:xfrm>
            <a:off x="483925" y="0"/>
            <a:ext cx="82296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Limits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– f′(x) = limₕ→0 [f(x+h) – f(x)]⁄h</a:t>
            </a:r>
            <a:endParaRPr sz="25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– For f(x)=x²:</a:t>
            </a:r>
            <a:endParaRPr sz="25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– Expand (x+h)² = x² + 2xh + h²</a:t>
            </a:r>
            <a:endParaRPr sz="25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– [f(x+h) – f(x)]⁄h = (2xh + h²)⁄h = 2x + h → 2x</a:t>
            </a:r>
            <a:endParaRPr sz="25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/>
        </p:nvSpPr>
        <p:spPr>
          <a:xfrm>
            <a:off x="483925" y="0"/>
            <a:ext cx="8229600" cy="2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Secant vs Tangent Lines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1"/>
                </a:solidFill>
              </a:rPr>
              <a:t>– </a:t>
            </a:r>
            <a:r>
              <a:rPr b="1" lang="en-GB" sz="2400">
                <a:solidFill>
                  <a:schemeClr val="dk1"/>
                </a:solidFill>
              </a:rPr>
              <a:t>Secant line</a:t>
            </a:r>
            <a:r>
              <a:rPr lang="en-GB" sz="2400">
                <a:solidFill>
                  <a:schemeClr val="dk1"/>
                </a:solidFill>
              </a:rPr>
              <a:t>: touches curve at two points; slope = (y₂–y₁)/(x₂–x₁)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1"/>
                </a:solidFill>
              </a:rPr>
              <a:t>– </a:t>
            </a:r>
            <a:r>
              <a:rPr b="1" lang="en-GB" sz="2400">
                <a:solidFill>
                  <a:schemeClr val="dk1"/>
                </a:solidFill>
              </a:rPr>
              <a:t>Tangent line</a:t>
            </a:r>
            <a:r>
              <a:rPr lang="en-GB" sz="2400">
                <a:solidFill>
                  <a:schemeClr val="dk1"/>
                </a:solidFill>
              </a:rPr>
              <a:t>: touches at one point; slope = f′(x₀)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1"/>
                </a:solidFill>
              </a:rPr>
              <a:t>– Example y=x² at x=1: f′(1)=2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</a:rPr>
              <a:t>– Secant from x=0.9→1.1: slope = (1.1²–0.9²)/(0.2) = 2</a:t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/>
        </p:nvSpPr>
        <p:spPr>
          <a:xfrm>
            <a:off x="457200" y="-100200"/>
            <a:ext cx="82296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Sum Rule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– d/dx [∑ aᵢ xⁿᵢ] = ∑ aᵢ nᵢ xⁿᵢ⁻¹</a:t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– Examples:</a:t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– f(x)=x³ + 7x² – 8x + 6 → f′(x)=3x² + 14x – 8</a:t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– f(x)=4x⁵ + 3x⁴ + 9x – 7 → f′(x)=20x⁴ + 12x³ + 9</a:t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/>
          <p:nvPr/>
        </p:nvSpPr>
        <p:spPr>
          <a:xfrm>
            <a:off x="457200" y="-100200"/>
            <a:ext cx="8229600" cy="3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Slope at a Point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1"/>
                </a:solidFill>
              </a:rPr>
              <a:t>– Compute f′(x), then evaluate at desired x₀</a:t>
            </a:r>
            <a:br>
              <a:rPr lang="en-GB" sz="2400">
                <a:solidFill>
                  <a:schemeClr val="dk1"/>
                </a:solidFill>
              </a:rPr>
            </a:br>
            <a:r>
              <a:rPr lang="en-GB" sz="2400">
                <a:solidFill>
                  <a:schemeClr val="dk1"/>
                </a:solidFill>
              </a:rPr>
              <a:t> – Example: f(x)=2x⁵ + 5x³ + 3x² + 4, x₀=2</a:t>
            </a:r>
            <a:br>
              <a:rPr lang="en-GB" sz="2400">
                <a:solidFill>
                  <a:schemeClr val="dk1"/>
                </a:solidFill>
              </a:rPr>
            </a:br>
            <a:r>
              <a:rPr lang="en-GB" sz="2400">
                <a:solidFill>
                  <a:schemeClr val="dk1"/>
                </a:solidFill>
              </a:rPr>
              <a:t> – f′(x)=10x⁴ + 15x² + 6x → f′(2)=160 + 60 + 12 = </a:t>
            </a:r>
            <a:r>
              <a:rPr b="1" lang="en-GB" sz="2400">
                <a:solidFill>
                  <a:schemeClr val="dk1"/>
                </a:solidFill>
              </a:rPr>
              <a:t>232</a:t>
            </a:r>
            <a:br>
              <a:rPr b="1" lang="en-GB" sz="2400">
                <a:solidFill>
                  <a:schemeClr val="dk1"/>
                </a:solidFill>
              </a:rPr>
            </a:br>
            <a:endParaRPr b="1" sz="2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2"/>
          <p:cNvSpPr txBox="1"/>
          <p:nvPr/>
        </p:nvSpPr>
        <p:spPr>
          <a:xfrm>
            <a:off x="457200" y="-100200"/>
            <a:ext cx="82296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Rational Functions &amp; Negative Exponents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1"/>
                </a:solidFill>
              </a:rPr>
              <a:t>– Rewrite 1/xⁿ as x⁻ⁿ, apply Power Rule, then rewrite: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1"/>
                </a:solidFill>
              </a:rPr>
              <a:t>– d/dx (1/x) = d/dx (x⁻¹) = –1·x⁻² = </a:t>
            </a:r>
            <a:r>
              <a:rPr b="1" lang="en-GB" sz="2400">
                <a:solidFill>
                  <a:schemeClr val="dk1"/>
                </a:solidFill>
              </a:rPr>
              <a:t>–1/x²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1"/>
                </a:solidFill>
              </a:rPr>
              <a:t>– d/dx (1/x²) = –2·x⁻³ = </a:t>
            </a:r>
            <a:r>
              <a:rPr b="1" lang="en-GB" sz="2400">
                <a:solidFill>
                  <a:schemeClr val="dk1"/>
                </a:solidFill>
              </a:rPr>
              <a:t>–2/x³</a:t>
            </a:r>
            <a:endParaRPr b="1"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</a:rPr>
              <a:t>– d/dx (8/x⁴) = 8·(–4)x⁻⁵ = </a:t>
            </a:r>
            <a:r>
              <a:rPr b="1" lang="en-GB" sz="2400">
                <a:solidFill>
                  <a:schemeClr val="dk1"/>
                </a:solidFill>
              </a:rPr>
              <a:t>–32/x⁵</a:t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/>
          <p:nvPr/>
        </p:nvSpPr>
        <p:spPr>
          <a:xfrm>
            <a:off x="457200" y="-100200"/>
            <a:ext cx="82296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Radical Functions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1"/>
                </a:solidFill>
              </a:rPr>
              <a:t>– √x = x^(1/2) → f′ = (1/2)x^(–1/2) = </a:t>
            </a:r>
            <a:r>
              <a:rPr b="1" lang="en-GB" sz="2400">
                <a:solidFill>
                  <a:schemeClr val="dk1"/>
                </a:solidFill>
              </a:rPr>
              <a:t>1/(2√x)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1"/>
                </a:solidFill>
              </a:rPr>
              <a:t>– ∛(x⁵) = x^(5/3) → f′ = (5/3)x^(2/3) = </a:t>
            </a:r>
            <a:r>
              <a:rPr b="1" lang="en-GB" sz="2400">
                <a:solidFill>
                  <a:schemeClr val="dk1"/>
                </a:solidFill>
              </a:rPr>
              <a:t>(5/3)∛(x²)</a:t>
            </a:r>
            <a:endParaRPr b="1"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</a:rPr>
              <a:t>– ⁷√(x⁴) = x^(4/7) → f′ = (4/7)x^(–3/7) = </a:t>
            </a:r>
            <a:r>
              <a:rPr b="1" lang="en-GB" sz="2400">
                <a:solidFill>
                  <a:schemeClr val="dk1"/>
                </a:solidFill>
              </a:rPr>
              <a:t>4/(7·⁷√(x³))</a:t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4"/>
          <p:cNvSpPr txBox="1"/>
          <p:nvPr/>
        </p:nvSpPr>
        <p:spPr>
          <a:xfrm>
            <a:off x="457200" y="-100200"/>
            <a:ext cx="82296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Expanding to Avoid Chain Rule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– Example: (x²)(x³ + 5) → x⁵ + 5x² → d/dx = 5x⁴ + 10x</a:t>
            </a:r>
            <a:endParaRPr sz="21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– Example: (2x – 3)² → expand 4x² – 12x + 9 → d/dx = 8x – 12</a:t>
            </a:r>
            <a:endParaRPr sz="21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5"/>
          <p:cNvSpPr txBox="1"/>
          <p:nvPr/>
        </p:nvSpPr>
        <p:spPr>
          <a:xfrm>
            <a:off x="457200" y="-100200"/>
            <a:ext cx="82296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Divide Polynomial by Monomial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– Divide each term by xᵏ:</a:t>
            </a:r>
            <a:endParaRPr sz="21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– (x⁵ + 6x⁴ + 5x³)/x² = x³ + 6x² + 5x → derivative = 3x² + 12x + 5</a:t>
            </a:r>
            <a:endParaRPr sz="21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6"/>
          <p:cNvSpPr txBox="1"/>
          <p:nvPr/>
        </p:nvSpPr>
        <p:spPr>
          <a:xfrm>
            <a:off x="457200" y="-100200"/>
            <a:ext cx="82296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Trigonometric Derivatives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1"/>
                </a:solidFill>
              </a:rPr>
              <a:t>– d/dx (sin x) = </a:t>
            </a:r>
            <a:r>
              <a:rPr b="1" lang="en-GB" sz="2400">
                <a:solidFill>
                  <a:schemeClr val="dk1"/>
                </a:solidFill>
              </a:rPr>
              <a:t>cos x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1"/>
                </a:solidFill>
              </a:rPr>
              <a:t>– d/dx (cos x) = </a:t>
            </a:r>
            <a:r>
              <a:rPr b="1" lang="en-GB" sz="2400">
                <a:solidFill>
                  <a:schemeClr val="dk1"/>
                </a:solidFill>
              </a:rPr>
              <a:t>–sin x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1"/>
                </a:solidFill>
              </a:rPr>
              <a:t>– d/dx (tan x) = </a:t>
            </a:r>
            <a:r>
              <a:rPr b="1" lang="en-GB" sz="2400">
                <a:solidFill>
                  <a:schemeClr val="dk1"/>
                </a:solidFill>
              </a:rPr>
              <a:t>sec² x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1"/>
                </a:solidFill>
              </a:rPr>
              <a:t>– d/dx (cot x) = </a:t>
            </a:r>
            <a:r>
              <a:rPr b="1" lang="en-GB" sz="2400">
                <a:solidFill>
                  <a:schemeClr val="dk1"/>
                </a:solidFill>
              </a:rPr>
              <a:t>–csc² x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1"/>
                </a:solidFill>
              </a:rPr>
              <a:t>– d/dx (sec x) = </a:t>
            </a:r>
            <a:r>
              <a:rPr b="1" lang="en-GB" sz="2400">
                <a:solidFill>
                  <a:schemeClr val="dk1"/>
                </a:solidFill>
              </a:rPr>
              <a:t>sec x tan x</a:t>
            </a:r>
            <a:endParaRPr b="1"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</a:rPr>
              <a:t>– d/dx (csc x) = </a:t>
            </a:r>
            <a:r>
              <a:rPr b="1" lang="en-GB" sz="2400">
                <a:solidFill>
                  <a:schemeClr val="dk1"/>
                </a:solidFill>
              </a:rPr>
              <a:t>–csc x cot x</a:t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7"/>
          <p:cNvSpPr txBox="1"/>
          <p:nvPr/>
        </p:nvSpPr>
        <p:spPr>
          <a:xfrm>
            <a:off x="457200" y="-100200"/>
            <a:ext cx="82296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Product Rule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– d/dx [f·g] = f′·g + f·g′</a:t>
            </a:r>
            <a:endParaRPr sz="21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– Example: d/dx (x²·sin x) = 2x·sin x + x²·cos x</a:t>
            </a:r>
            <a:endParaRPr sz="21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– Three factors: d/dx [f·g·h] = f′gh + fg′h + fgh′</a:t>
            </a:r>
            <a:endParaRPr sz="21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– Example: d/dx [x³·tan x·(3x²–9)]</a:t>
            </a:r>
            <a:endParaRPr sz="21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= 3x²·tan x·(3x²–9) + x³·sec² x·(3x²–9) + x³·tan x·6x</a:t>
            </a:r>
            <a:endParaRPr sz="21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8"/>
          <p:cNvSpPr txBox="1"/>
          <p:nvPr/>
        </p:nvSpPr>
        <p:spPr>
          <a:xfrm>
            <a:off x="457200" y="-100200"/>
            <a:ext cx="8229600" cy="2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Quotient Rule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1"/>
                </a:solidFill>
              </a:rPr>
              <a:t>– d/dx [f/g] = [g·f′ – f·g′] / g²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1"/>
                </a:solidFill>
              </a:rPr>
              <a:t>– Example: d/dx [(5x+6)/(3x–7)]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1"/>
                </a:solidFill>
              </a:rPr>
              <a:t>– f=5x+6, f′=5; g=3x–7, g′=3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1"/>
                </a:solidFill>
              </a:rPr>
              <a:t>– f′g – fg′ = 5(3x–7) – (5x+6)·3 = 15x–35 –15x–18 = –53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</a:rPr>
              <a:t>– d/dx = </a:t>
            </a:r>
            <a:r>
              <a:rPr b="1" lang="en-GB" sz="2400">
                <a:solidFill>
                  <a:schemeClr val="dk1"/>
                </a:solidFill>
              </a:rPr>
              <a:t>–53/(3x–7)²</a:t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