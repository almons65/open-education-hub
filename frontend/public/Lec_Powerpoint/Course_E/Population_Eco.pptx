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9ad58d8193_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9ad58d8193_5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9ad58d8193_5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g39ad58d8193_5_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9ad58d8193_5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g39ad58d8193_5_1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722313" y="3305175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>
            <a:off x="457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77" name="Google Shape;77;p17"/>
          <p:cNvSpPr txBox="1"/>
          <p:nvPr>
            <p:ph idx="2" type="body"/>
          </p:nvPr>
        </p:nvSpPr>
        <p:spPr>
          <a:xfrm>
            <a:off x="4648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78" name="Google Shape;78;p17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" type="body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4" name="Google Shape;84;p18"/>
          <p:cNvSpPr txBox="1"/>
          <p:nvPr>
            <p:ph idx="2" type="body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85" name="Google Shape;85;p18"/>
          <p:cNvSpPr txBox="1"/>
          <p:nvPr>
            <p:ph idx="3" type="body"/>
          </p:nvPr>
        </p:nvSpPr>
        <p:spPr>
          <a:xfrm>
            <a:off x="4645025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6" name="Google Shape;86;p18"/>
          <p:cNvSpPr txBox="1"/>
          <p:nvPr>
            <p:ph idx="4" type="body"/>
          </p:nvPr>
        </p:nvSpPr>
        <p:spPr>
          <a:xfrm>
            <a:off x="4645025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87" name="Google Shape;87;p18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8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8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457200" y="204788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457200" y="1076325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2874764" y="-1217414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5463778" y="1371600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1272778" y="-609600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>
            <p:ph type="ctrTitle"/>
          </p:nvPr>
        </p:nvSpPr>
        <p:spPr>
          <a:xfrm>
            <a:off x="2294850" y="1831675"/>
            <a:ext cx="45543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3200">
                <a:latin typeface="Arial"/>
                <a:ea typeface="Arial"/>
                <a:cs typeface="Arial"/>
                <a:sym typeface="Arial"/>
              </a:rPr>
              <a:t>Population of Ecology</a:t>
            </a:r>
            <a:endParaRPr b="1" sz="3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25"/>
          <p:cNvSpPr txBox="1"/>
          <p:nvPr>
            <p:ph type="ctrTitle"/>
          </p:nvPr>
        </p:nvSpPr>
        <p:spPr>
          <a:xfrm>
            <a:off x="1947000" y="3177525"/>
            <a:ext cx="52500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discusses the principles of Population Ecology using the outbreak of West Nile virus in Dallas, Texas, as a case study</a:t>
            </a:r>
            <a:endParaRPr b="1" sz="180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6"/>
          <p:cNvSpPr txBox="1"/>
          <p:nvPr/>
        </p:nvSpPr>
        <p:spPr>
          <a:xfrm>
            <a:off x="490600" y="182575"/>
            <a:ext cx="8229600" cy="47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3000">
                <a:solidFill>
                  <a:schemeClr val="dk2"/>
                </a:solidFill>
              </a:rPr>
              <a:t>Scientific Concepts and Discoveries</a:t>
            </a:r>
            <a:endParaRPr b="1" sz="3000">
              <a:solidFill>
                <a:schemeClr val="dk2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-GB" sz="1200">
                <a:solidFill>
                  <a:schemeClr val="dk1"/>
                </a:solidFill>
              </a:rPr>
              <a:t>Population Ecology</a:t>
            </a:r>
            <a:r>
              <a:rPr lang="en-GB" sz="1200">
                <a:solidFill>
                  <a:schemeClr val="dk1"/>
                </a:solidFill>
              </a:rPr>
              <a:t>: The study of groups within a species and their interactions, which can vary by time and place.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-GB" sz="1200">
                <a:solidFill>
                  <a:schemeClr val="dk1"/>
                </a:solidFill>
              </a:rPr>
              <a:t>Population Density</a:t>
            </a:r>
            <a:r>
              <a:rPr lang="en-GB" sz="1200">
                <a:solidFill>
                  <a:schemeClr val="dk1"/>
                </a:solidFill>
              </a:rPr>
              <a:t>: Refers to the number of individuals in a given area, which can change due to births, deaths, immigration, and emigration.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-GB" sz="1200">
                <a:solidFill>
                  <a:schemeClr val="dk1"/>
                </a:solidFill>
              </a:rPr>
              <a:t>Dispersion</a:t>
            </a:r>
            <a:r>
              <a:rPr lang="en-GB" sz="1200">
                <a:solidFill>
                  <a:schemeClr val="dk1"/>
                </a:solidFill>
              </a:rPr>
              <a:t>: The geographic arrangement of individuals within a population (clumped, evenly spaced, or random).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-GB" sz="1200">
                <a:solidFill>
                  <a:schemeClr val="dk1"/>
                </a:solidFill>
              </a:rPr>
              <a:t>Population Growth</a:t>
            </a:r>
            <a:r>
              <a:rPr lang="en-GB" sz="1200">
                <a:solidFill>
                  <a:schemeClr val="dk1"/>
                </a:solidFill>
              </a:rPr>
              <a:t>: Factors influencing population growth include fecundity (the reproductive capacity of individuals) and limiting factors.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-GB" sz="1200">
                <a:solidFill>
                  <a:schemeClr val="dk1"/>
                </a:solidFill>
              </a:rPr>
              <a:t>Limiting Factors</a:t>
            </a:r>
            <a:r>
              <a:rPr lang="en-GB" sz="1200">
                <a:solidFill>
                  <a:schemeClr val="dk1"/>
                </a:solidFill>
              </a:rPr>
              <a:t>: Factors that restrict population growth, categorized as: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b="1" lang="en-GB" sz="1200">
                <a:solidFill>
                  <a:schemeClr val="dk1"/>
                </a:solidFill>
              </a:rPr>
              <a:t>Density-Dependent Factors</a:t>
            </a:r>
            <a:r>
              <a:rPr lang="en-GB" sz="1200">
                <a:solidFill>
                  <a:schemeClr val="dk1"/>
                </a:solidFill>
              </a:rPr>
              <a:t>: Factors whose effects depend on the population size (e.g., food availability, disease).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b="1" lang="en-GB" sz="1200">
                <a:solidFill>
                  <a:schemeClr val="dk1"/>
                </a:solidFill>
              </a:rPr>
              <a:t>Density-Independent Factors</a:t>
            </a:r>
            <a:r>
              <a:rPr lang="en-GB" sz="1200">
                <a:solidFill>
                  <a:schemeClr val="dk1"/>
                </a:solidFill>
              </a:rPr>
              <a:t>: Factors that affect population regardless of size (e.g., weather events).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-GB" sz="1200">
                <a:solidFill>
                  <a:schemeClr val="dk1"/>
                </a:solidFill>
              </a:rPr>
              <a:t>Carrying Capacity</a:t>
            </a:r>
            <a:r>
              <a:rPr lang="en-GB" sz="1200">
                <a:solidFill>
                  <a:schemeClr val="dk1"/>
                </a:solidFill>
              </a:rPr>
              <a:t>: The maximum number of individuals that an environment can sustain based on available resources.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-GB" sz="1200">
                <a:solidFill>
                  <a:schemeClr val="dk1"/>
                </a:solidFill>
              </a:rPr>
              <a:t>Exponential Growth</a:t>
            </a:r>
            <a:r>
              <a:rPr lang="en-GB" sz="1200">
                <a:solidFill>
                  <a:schemeClr val="dk1"/>
                </a:solidFill>
              </a:rPr>
              <a:t>: Population growth that occurs in a proportional manner to the size of the population.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-GB" sz="1200">
                <a:solidFill>
                  <a:schemeClr val="dk1"/>
                </a:solidFill>
              </a:rPr>
              <a:t>Logistic Growth</a:t>
            </a:r>
            <a:r>
              <a:rPr lang="en-GB" sz="1200">
                <a:solidFill>
                  <a:schemeClr val="dk1"/>
                </a:solidFill>
              </a:rPr>
              <a:t>: Population growth that levels off as it approaches the Carrying Capacity.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3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7"/>
          <p:cNvSpPr txBox="1"/>
          <p:nvPr/>
        </p:nvSpPr>
        <p:spPr>
          <a:xfrm>
            <a:off x="457200" y="195950"/>
            <a:ext cx="8229600" cy="42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3000">
                <a:solidFill>
                  <a:schemeClr val="dk2"/>
                </a:solidFill>
              </a:rPr>
              <a:t>Methodology</a:t>
            </a:r>
            <a:endParaRPr b="1" sz="30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b="1" lang="en-GB" sz="1800">
                <a:solidFill>
                  <a:schemeClr val="dk1"/>
                </a:solidFill>
              </a:rPr>
              <a:t>Identify Population</a:t>
            </a:r>
            <a:r>
              <a:rPr lang="en-GB" sz="1800">
                <a:solidFill>
                  <a:schemeClr val="dk1"/>
                </a:solidFill>
              </a:rPr>
              <a:t>: Determine the species and the area of study.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b="1" lang="en-GB" sz="1800">
                <a:solidFill>
                  <a:schemeClr val="dk1"/>
                </a:solidFill>
              </a:rPr>
              <a:t>Measure Density</a:t>
            </a:r>
            <a:r>
              <a:rPr lang="en-GB" sz="1800">
                <a:solidFill>
                  <a:schemeClr val="dk1"/>
                </a:solidFill>
              </a:rPr>
              <a:t>: Calculate the number of individuals per unit area.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b="1" lang="en-GB" sz="1800">
                <a:solidFill>
                  <a:schemeClr val="dk1"/>
                </a:solidFill>
              </a:rPr>
              <a:t>Analyze Dispersion</a:t>
            </a:r>
            <a:r>
              <a:rPr lang="en-GB" sz="1800">
                <a:solidFill>
                  <a:schemeClr val="dk1"/>
                </a:solidFill>
              </a:rPr>
              <a:t>: Assess how individuals are spaced in their habitat.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b="1" lang="en-GB" sz="1800">
                <a:solidFill>
                  <a:schemeClr val="dk1"/>
                </a:solidFill>
              </a:rPr>
              <a:t>Investigate Growth Factors</a:t>
            </a:r>
            <a:r>
              <a:rPr lang="en-GB" sz="1800">
                <a:solidFill>
                  <a:schemeClr val="dk1"/>
                </a:solidFill>
              </a:rPr>
              <a:t>: Examine both limiting factors affecting population growth: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GB" sz="1800">
                <a:solidFill>
                  <a:schemeClr val="dk1"/>
                </a:solidFill>
              </a:rPr>
              <a:t>Identify Density-Dependent Factors (e.g., competition, predation).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GB" sz="1800">
                <a:solidFill>
                  <a:schemeClr val="dk1"/>
                </a:solidFill>
              </a:rPr>
              <a:t>Identify Density-Independent Factors (e.g., environmental changes).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b="1" lang="en-GB" sz="1800">
                <a:solidFill>
                  <a:schemeClr val="dk1"/>
                </a:solidFill>
              </a:rPr>
              <a:t>Calculate Growth Rate</a:t>
            </a:r>
            <a:r>
              <a:rPr lang="en-GB" sz="1800">
                <a:solidFill>
                  <a:schemeClr val="dk1"/>
                </a:solidFill>
              </a:rPr>
              <a:t>: Use the formula: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GB" sz="1800">
                <a:solidFill>
                  <a:schemeClr val="dk1"/>
                </a:solidFill>
              </a:rPr>
              <a:t>Growth Rate (r) = (Births - Deaths) / Initial Population Size (N).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