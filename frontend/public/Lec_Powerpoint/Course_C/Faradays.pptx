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mazon.com/dp/B0DK72QD4F?tag=dtdgstoreid08-20" TargetMode="External"/><Relationship Id="rId4" Type="http://schemas.openxmlformats.org/officeDocument/2006/relationships/hyperlink" Target="https://www.amazon.com/dp/B09237GYCD?tag=dtdgstoreid08-20" TargetMode="External"/><Relationship Id="rId9" Type="http://schemas.openxmlformats.org/officeDocument/2006/relationships/hyperlink" Target="https://www.amazon.com/dp/B0DK72QD4F?tag=dtdgstoreid08-20" TargetMode="External"/><Relationship Id="rId5" Type="http://schemas.openxmlformats.org/officeDocument/2006/relationships/hyperlink" Target="https://www.amazon.com/dp/B0DK72QD4F?tag=dtdgstoreid08-20" TargetMode="External"/><Relationship Id="rId6" Type="http://schemas.openxmlformats.org/officeDocument/2006/relationships/hyperlink" Target="https://www.amazon.com/dp/B0DK72QD4F?tag=dtdgstoreid08-20" TargetMode="External"/><Relationship Id="rId7" Type="http://schemas.openxmlformats.org/officeDocument/2006/relationships/hyperlink" Target="https://www.amazon.com/dp/B0DK72QD4F?tag=dtdgstoreid08-20" TargetMode="External"/><Relationship Id="rId8" Type="http://schemas.openxmlformats.org/officeDocument/2006/relationships/hyperlink" Target="https://www.amazon.com/dp/1941691153?tag=dtdgstoreid08-2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mazon.com/dp/B0DK72QD4F?tag=dtdgstoreid08-2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mazon.com/dp/B0DK72QD4F?tag=dtdgstoreid08-20" TargetMode="External"/><Relationship Id="rId4" Type="http://schemas.openxmlformats.org/officeDocument/2006/relationships/hyperlink" Target="https://www.amazon.com/dp/B0DK72QD4F?tag=dtdgstoreid08-2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amazon.com/dp/B072KDBJWC?tag=dtdgstoreid08-20" TargetMode="External"/><Relationship Id="rId4" Type="http://schemas.openxmlformats.org/officeDocument/2006/relationships/hyperlink" Target="https://www.amazon.com/dp/B0DK72QD4F?tag=dtdgstoreid08-20" TargetMode="External"/><Relationship Id="rId10" Type="http://schemas.openxmlformats.org/officeDocument/2006/relationships/hyperlink" Target="https://www.amazon.com/dp/B0DK72QD4F?tag=dtdgstoreid08-20" TargetMode="External"/><Relationship Id="rId9" Type="http://schemas.openxmlformats.org/officeDocument/2006/relationships/hyperlink" Target="https://www.amazon.com/dp/B0DK72QD4F?tag=dtdgstoreid08-20" TargetMode="External"/><Relationship Id="rId5" Type="http://schemas.openxmlformats.org/officeDocument/2006/relationships/hyperlink" Target="https://www.amazon.com/dp/B0DK72QD4F?tag=dtdgstoreid08-20" TargetMode="External"/><Relationship Id="rId6" Type="http://schemas.openxmlformats.org/officeDocument/2006/relationships/hyperlink" Target="https://www.amazon.com/dp/B0DK72QD4F?tag=dtdgstoreid08-20" TargetMode="External"/><Relationship Id="rId7" Type="http://schemas.openxmlformats.org/officeDocument/2006/relationships/hyperlink" Target="https://www.amazon.com/dp/B0DK72QD4F?tag=dtdgstoreid08-20" TargetMode="External"/><Relationship Id="rId8" Type="http://schemas.openxmlformats.org/officeDocument/2006/relationships/hyperlink" Target="https://www.amazon.com/dp/B0DK72QD4F?tag=dtdgstoreid08-2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mazon.com/dp/B0DK72QD4F?tag=dtdgstoreid08-20" TargetMode="External"/><Relationship Id="rId4" Type="http://schemas.openxmlformats.org/officeDocument/2006/relationships/hyperlink" Target="https://www.amazon.com/dp/B0DK72QD4F?tag=dtdgstoreid08-2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5200"/>
              <a:t>Faraday’s Law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4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When a coil of wire is placed near another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coil connected to a battery and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resistor, no current is induced in the second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coil if the current in the first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coil is steady.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An induced emf (and thus current) appears only when the current in the first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coil changes (i.e., when the switch is closed or opened briefly).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phenomenon is the basis of Faraday’s law: </a:t>
            </a:r>
            <a:r>
              <a:rPr b="1" lang="en-GB" sz="1800">
                <a:solidFill>
                  <a:schemeClr val="dk1"/>
                </a:solidFill>
              </a:rPr>
              <a:t>a change in</a:t>
            </a:r>
            <a:r>
              <a:rPr b="1" lang="en-GB" sz="18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magnetic flux induces an emf in a</a:t>
            </a:r>
            <a:r>
              <a:rPr b="1" lang="en-GB" sz="18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coil.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Induced emf = -N Delta(Phi)/Delta (t)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Where (N) = number of loops in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coil - (Delta (Phi)) = change in magnetic flux - Delta (t) = change in time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negative sign represents Lenz’s law, indicating that the direction of the induced emf opposes the change in flux.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3925" y="0"/>
            <a:ext cx="8229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Magnetic Flux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87850" y="1055400"/>
            <a:ext cx="82698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Phi = (BA) cos theta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where: - (B) = magnetic field strength - (A) = area of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coil - theta = angle between the magnetic field and the normal (perpendicular) to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coil’s surface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-100200"/>
            <a:ext cx="8229600" cy="5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Three Ways to Change Magnetic Flux and </a:t>
            </a:r>
            <a:r>
              <a:rPr b="1" lang="en-GB" sz="2400">
                <a:solidFill>
                  <a:schemeClr val="dk2"/>
                </a:solidFill>
              </a:rPr>
              <a:t>Induced</a:t>
            </a:r>
            <a:r>
              <a:rPr b="1" lang="en-GB" sz="2400">
                <a:solidFill>
                  <a:schemeClr val="dk2"/>
                </a:solidFill>
              </a:rPr>
              <a:t> EMF</a:t>
            </a:r>
            <a:endParaRPr b="1"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Change the Magnetic Field ((B))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Example: Moving a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magnet into or out of a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 changes the magnetic field through the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coil, inducing emf.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If the magnet is stationary, no emf is induced because flux is constant.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Change the Area ((A)) of the coil</a:t>
            </a:r>
            <a:br>
              <a:rPr b="1" lang="en-GB" u="sng">
                <a:solidFill>
                  <a:schemeClr val="hlink"/>
                </a:solidFill>
                <a:hlinkClick r:id="rId6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Example: Stretching or compressing a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 changes its area, altering the flux.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Change the Angle ((\theta)) Between Magnetic Field and Coil</a:t>
            </a:r>
            <a:br>
              <a:rPr b="1" lang="en-GB" u="sng">
                <a:solidFill>
                  <a:schemeClr val="hlink"/>
                </a:solidFill>
                <a:hlinkClick r:id="rId8"/>
              </a:rPr>
            </a:br>
            <a:endParaRPr b="1" u="sng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Example: Rotating the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 changes the angle between the magnetic field and the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coil’s normal line, changing the flux.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-100200"/>
            <a:ext cx="8229600" cy="7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Practical Example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Given a square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coil with 50 loops, dimensions 0.2 m × 0.2 m, and a magnetic field increasing from -3 T to 5 T perpendicular to the coil face.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Calculate induced emf, current through a resistor, and power dissipated.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Given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Number of loops, (N = 50)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Side length of square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>
                <a:solidFill>
                  <a:schemeClr val="dk1"/>
                </a:solidFill>
              </a:rPr>
              <a:t>coil = 0.2 m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Magnetic field change, Delta B = 5 - (-3) = 8, T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Area, A = 0.2 times 0.2 = 0.04, m^2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Angle, theta = 0 (cos 0° = 1)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Time interval, (Delta t = 0.1 s)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Resistance, (R = 20 Omega)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-100200"/>
            <a:ext cx="8229600" cy="5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Calcul</a:t>
            </a:r>
            <a:r>
              <a:rPr b="1" lang="en-GB">
                <a:solidFill>
                  <a:schemeClr val="dk1"/>
                </a:solidFill>
              </a:rPr>
              <a:t>at</a:t>
            </a:r>
            <a:r>
              <a:rPr b="1" lang="en-GB">
                <a:solidFill>
                  <a:schemeClr val="dk1"/>
                </a:solidFill>
              </a:rPr>
              <a:t>e Induced EMF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emf = -N Delta Phi/Delta t = -50 times 8 times 0.04 times 1/0.1 = -160 V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(Negative sign ignored for magnitude.)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Calculate Current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 = (emf)(R) = 160/20 = 8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Calculate Power Dissipated in Resistor</a:t>
            </a:r>
            <a:endParaRPr b="1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 = I^2 R = 8^2 times 20 = 64 times 20 = 1280 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Additional Insight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More loops increase the induced emf proportionally.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 single loop would produce only 160/50 = 3.2 V.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