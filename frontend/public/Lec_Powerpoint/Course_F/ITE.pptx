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ad58d8193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9ad58d8193_5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ad58d8193_5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9ad58d8193_5_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ad58d8193_5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9ad58d8193_5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9af7b238f1_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9af7b238f1_2_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9af7b238f1_2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9af7b238f1_2_1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9af7b238f1_2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9af7b238f1_2_1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af7b238f1_2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9af7b238f1_2_2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722313" y="3305175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457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7" name="Google Shape;77;p17"/>
          <p:cNvSpPr txBox="1"/>
          <p:nvPr>
            <p:ph idx="2" type="body"/>
          </p:nvPr>
        </p:nvSpPr>
        <p:spPr>
          <a:xfrm>
            <a:off x="4648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5" name="Google Shape;85;p18"/>
          <p:cNvSpPr txBox="1"/>
          <p:nvPr>
            <p:ph idx="3" type="body"/>
          </p:nvPr>
        </p:nvSpPr>
        <p:spPr>
          <a:xfrm>
            <a:off x="4645025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645025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7" name="Google Shape;87;p1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457200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457200" y="1076325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874764" y="-1217414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463778" y="1371600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272778" y="-609600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ctrTitle"/>
          </p:nvPr>
        </p:nvSpPr>
        <p:spPr>
          <a:xfrm>
            <a:off x="917250" y="1825025"/>
            <a:ext cx="73095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3600">
                <a:latin typeface="Arial"/>
                <a:ea typeface="Arial"/>
                <a:cs typeface="Arial"/>
                <a:sym typeface="Arial"/>
              </a:rPr>
              <a:t>Introduction to Electrodynamics</a:t>
            </a:r>
            <a:endParaRPr b="1" sz="3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5"/>
          <p:cNvSpPr txBox="1"/>
          <p:nvPr>
            <p:ph type="ctrTitle"/>
          </p:nvPr>
        </p:nvSpPr>
        <p:spPr>
          <a:xfrm>
            <a:off x="1947000" y="3037250"/>
            <a:ext cx="52500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GB" sz="182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focusing on the different realms of mechanics and their historical and conceptual development</a:t>
            </a:r>
            <a:endParaRPr b="1" sz="182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/>
        </p:nvSpPr>
        <p:spPr>
          <a:xfrm>
            <a:off x="490600" y="182575"/>
            <a:ext cx="8229600" cy="39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3000">
                <a:solidFill>
                  <a:schemeClr val="dk2"/>
                </a:solidFill>
              </a:rPr>
              <a:t>The Four Realms of Mechanics</a:t>
            </a:r>
            <a:endParaRPr b="1" sz="3000">
              <a:solidFill>
                <a:schemeClr val="dk2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solidFill>
                  <a:schemeClr val="dk1"/>
                </a:solidFill>
              </a:rPr>
              <a:t>Mechanics studies the motion of bodies.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solidFill>
                  <a:schemeClr val="dk1"/>
                </a:solidFill>
              </a:rPr>
              <a:t>There are four realms, but the lecture primarily focuses on two major ones:</a:t>
            </a:r>
            <a:endParaRPr sz="2400">
              <a:solidFill>
                <a:schemeClr val="dk1"/>
              </a:solidFill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b="1" lang="en-GB" sz="2400">
                <a:solidFill>
                  <a:schemeClr val="dk1"/>
                </a:solidFill>
              </a:rPr>
              <a:t>Classical Mechanics (Newtonian Mechanics)</a:t>
            </a:r>
            <a:endParaRPr b="1" sz="2400">
              <a:solidFill>
                <a:schemeClr val="dk1"/>
              </a:solidFill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b="1" lang="en-GB" sz="2400">
                <a:solidFill>
                  <a:schemeClr val="dk1"/>
                </a:solidFill>
              </a:rPr>
              <a:t>Quantum Mechanics</a:t>
            </a:r>
            <a:endParaRPr b="1" sz="2400" u="sng">
              <a:solidFill>
                <a:schemeClr val="hlink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3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7"/>
          <p:cNvSpPr txBox="1"/>
          <p:nvPr/>
        </p:nvSpPr>
        <p:spPr>
          <a:xfrm>
            <a:off x="457200" y="195950"/>
            <a:ext cx="8229600" cy="53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3000">
                <a:solidFill>
                  <a:schemeClr val="dk2"/>
                </a:solidFill>
              </a:rPr>
              <a:t>Classical Mechanics</a:t>
            </a:r>
            <a:endParaRPr b="1" sz="3000" u="sng">
              <a:solidFill>
                <a:schemeClr val="dk2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Originated with Galileo Galilei and was fully formulated by Isaac Newton.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Deals with macroscopic bodies with considerable mass and usual speeds.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Newton’s laws of motion: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b="1" lang="en-GB" sz="1700">
                <a:solidFill>
                  <a:schemeClr val="dk1"/>
                </a:solidFill>
              </a:rPr>
              <a:t>Zeroth Law:</a:t>
            </a:r>
            <a:r>
              <a:rPr lang="en-GB" sz="1700">
                <a:solidFill>
                  <a:schemeClr val="dk1"/>
                </a:solidFill>
              </a:rPr>
              <a:t> There is no absolute rest.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b="1" lang="en-GB" sz="1700">
                <a:solidFill>
                  <a:schemeClr val="dk1"/>
                </a:solidFill>
              </a:rPr>
              <a:t>First Law:</a:t>
            </a:r>
            <a:r>
              <a:rPr lang="en-GB" sz="1700">
                <a:solidFill>
                  <a:schemeClr val="dk1"/>
                </a:solidFill>
              </a:rPr>
              <a:t> A body at rest or in uniform motion remains so unless acted upon by an external force.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b="1" lang="en-GB" sz="1700">
                <a:solidFill>
                  <a:schemeClr val="dk1"/>
                </a:solidFill>
              </a:rPr>
              <a:t>Second Law:</a:t>
            </a:r>
            <a:r>
              <a:rPr lang="en-GB" sz="1700">
                <a:solidFill>
                  <a:schemeClr val="dk1"/>
                </a:solidFill>
              </a:rPr>
              <a:t> Force is the rate of change of momentum (F = dp/dt). The common form F = ma is a corollary assuming constant mass.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b="1" lang="en-GB" sz="1700">
                <a:solidFill>
                  <a:schemeClr val="dk1"/>
                </a:solidFill>
              </a:rPr>
              <a:t>Third Law:</a:t>
            </a:r>
            <a:r>
              <a:rPr lang="en-GB" sz="1700">
                <a:solidFill>
                  <a:schemeClr val="dk1"/>
                </a:solidFill>
              </a:rPr>
              <a:t> Action and reaction forces are equal and opposite.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Key quantities include momentum (p = mv) and acceleration (a = dv/dt).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Energy conservation involves kinetic and potential energy, leading to Lagrangian and Hamiltonian formulations.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Classical mechanics is valid when mass is large and speeds are not relativistic.</a:t>
            </a:r>
            <a:endParaRPr sz="17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8"/>
          <p:cNvSpPr txBox="1"/>
          <p:nvPr/>
        </p:nvSpPr>
        <p:spPr>
          <a:xfrm>
            <a:off x="457200" y="195950"/>
            <a:ext cx="8229600" cy="43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3000">
                <a:solidFill>
                  <a:schemeClr val="dk2"/>
                </a:solidFill>
              </a:rPr>
              <a:t>Quantum Mechanics</a:t>
            </a:r>
            <a:endParaRPr b="1" sz="3000" u="sng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Required when dealing with very small particles (e.g., electrons, protons) whose masses are extremely small (~9.11 × 10⁻³¹ kg for electron).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Classical mechanics fails to explain phenomena at atomic scales.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Example: The hydrogen atom problem, where classical theory predicts electrons should emit radiation continuously due to acceleration, but they do not.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Niels Bohr introduced quantum ideas: electrons emit or absorb radiation only when transitioning between discrete orbits.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Quantum mechanics treats particles as both particles and waves (wave-particle duality).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9"/>
          <p:cNvSpPr txBox="1"/>
          <p:nvPr/>
        </p:nvSpPr>
        <p:spPr>
          <a:xfrm>
            <a:off x="457200" y="195950"/>
            <a:ext cx="8229600" cy="3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3000">
                <a:solidFill>
                  <a:schemeClr val="dk2"/>
                </a:solidFill>
              </a:rPr>
              <a:t>Wave-Particle Duality and de Broglie Waves</a:t>
            </a:r>
            <a:endParaRPr b="1" sz="3000">
              <a:solidFill>
                <a:schemeClr val="dk2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solidFill>
                  <a:schemeClr val="dk1"/>
                </a:solidFill>
              </a:rPr>
              <a:t>Louis de Broglie proposed that particles have associated wavelengths: lambda = h / p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solidFill>
                  <a:schemeClr val="dk1"/>
                </a:solidFill>
              </a:rPr>
              <a:t>This bridges the gap between classical particle and wave descriptions.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solidFill>
                  <a:schemeClr val="dk1"/>
                </a:solidFill>
              </a:rPr>
              <a:t>At very small scales, particles behave like waves and vice versa.</a:t>
            </a:r>
            <a:endParaRPr sz="24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0"/>
          <p:cNvSpPr txBox="1"/>
          <p:nvPr/>
        </p:nvSpPr>
        <p:spPr>
          <a:xfrm>
            <a:off x="457200" y="195950"/>
            <a:ext cx="8229600" cy="45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3000">
                <a:solidFill>
                  <a:schemeClr val="dk2"/>
                </a:solidFill>
              </a:rPr>
              <a:t>Heisenberg Uncertainty Principle</a:t>
            </a:r>
            <a:endParaRPr b="1" sz="3000" u="sng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Werner Heisenberg formulated a fundamental limit on the precision of simultaneous measurements of position (x) and momentum (p).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The uncertainty relation: Delta x cdot Delta p geq hbar / 2 where (hbar) is the reduced Planck constant.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This principle arises because measuring one property precisely disturbs the other.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The uncertainty is negligible for large classical objects but significant for tiny particles.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Conceptually illustrated using an example of “Mousa” transitioning from a classical particle to a quantum wave-like entity.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1"/>
          <p:cNvSpPr txBox="1"/>
          <p:nvPr/>
        </p:nvSpPr>
        <p:spPr>
          <a:xfrm>
            <a:off x="457200" y="195950"/>
            <a:ext cx="8229600" cy="3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3000">
                <a:solidFill>
                  <a:schemeClr val="dk2"/>
                </a:solidFill>
              </a:rPr>
              <a:t>Schrödinger’s Contribution</a:t>
            </a:r>
            <a:endParaRPr b="1" sz="3000">
              <a:solidFill>
                <a:schemeClr val="dk2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solidFill>
                  <a:schemeClr val="dk1"/>
                </a:solidFill>
              </a:rPr>
              <a:t>Erwin Schrödinger formulated the wave mechanics approach to quantum mechanics.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400">
                <a:solidFill>
                  <a:schemeClr val="dk1"/>
                </a:solidFill>
              </a:rPr>
              <a:t>Schrödinger’s equation governs the behavior of quantum systems and is foundational to modern quantum theory.</a:t>
            </a:r>
            <a:endParaRPr sz="24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