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ad58d8193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9ad58d8193_5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ad58d8193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9ad58d8193_5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ad58d8193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9ad58d8193_5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af7b238f1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9af7b238f1_2_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af7b238f1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9af7b238f1_2_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af7b238f1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9af7b238f1_2_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af7b238f1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9af7b238f1_2_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702000" y="1838375"/>
            <a:ext cx="77400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600">
                <a:latin typeface="Arial"/>
                <a:ea typeface="Arial"/>
                <a:cs typeface="Arial"/>
                <a:sym typeface="Arial"/>
              </a:rPr>
              <a:t>Quantum Foundations &amp; Relativity</a:t>
            </a:r>
            <a:endParaRPr b="1"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5"/>
          <p:cNvSpPr txBox="1"/>
          <p:nvPr>
            <p:ph type="ctrTitle"/>
          </p:nvPr>
        </p:nvSpPr>
        <p:spPr>
          <a:xfrm>
            <a:off x="1947000" y="3037250"/>
            <a:ext cx="52500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1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quantum mechanics and relativity, tracing the development from de Broglie’s hypothesis to Einstein’s special relativity, and their implications in physics</a:t>
            </a:r>
            <a:endParaRPr b="1" sz="18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/>
        </p:nvSpPr>
        <p:spPr>
          <a:xfrm>
            <a:off x="490600" y="182575"/>
            <a:ext cx="8229600" cy="50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2"/>
                </a:solidFill>
              </a:rPr>
              <a:t>De Broglie Hypothesis and Quantum Mechanics</a:t>
            </a:r>
            <a:endParaRPr b="1" sz="2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>
                <a:solidFill>
                  <a:schemeClr val="dk1"/>
                </a:solidFill>
              </a:rPr>
              <a:t>De Broglie Hypothesis:</a:t>
            </a:r>
            <a:r>
              <a:rPr lang="en-GB">
                <a:solidFill>
                  <a:schemeClr val="dk1"/>
                </a:solidFill>
              </a:rPr>
              <a:t> Proposes that particles have wave-like properties, expressed as (p = h/lambda) where ( p ) is momentum, ( lambda ) is wavelength, and ( h ) is Planck’s constant.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>
                <a:solidFill>
                  <a:schemeClr val="dk1"/>
                </a:solidFill>
              </a:rPr>
              <a:t>Scientific Process:</a:t>
            </a:r>
            <a:r>
              <a:rPr lang="en-GB">
                <a:solidFill>
                  <a:schemeClr val="dk1"/>
                </a:solidFill>
              </a:rPr>
              <a:t> Hypothesis → Theory → Law (once experimentally verified).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>
                <a:solidFill>
                  <a:schemeClr val="dk1"/>
                </a:solidFill>
              </a:rPr>
              <a:t>Historical Context:</a:t>
            </a:r>
            <a:r>
              <a:rPr lang="en-GB">
                <a:solidFill>
                  <a:schemeClr val="dk1"/>
                </a:solidFill>
              </a:rPr>
              <a:t> De </a:t>
            </a:r>
            <a:r>
              <a:rPr lang="en-GB">
                <a:solidFill>
                  <a:schemeClr val="dk1"/>
                </a:solidFill>
              </a:rPr>
              <a:t>Broglie</a:t>
            </a:r>
            <a:r>
              <a:rPr lang="en-GB">
                <a:solidFill>
                  <a:schemeClr val="dk1"/>
                </a:solidFill>
              </a:rPr>
              <a:t> PhD thesis faced skepticism, notably from Peter Debye, but was ultimately accepted by Schrödinger, who later developed the wave equation of quantum mechanics.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>
                <a:solidFill>
                  <a:schemeClr val="dk1"/>
                </a:solidFill>
              </a:rPr>
              <a:t>Wave-Particle Duality:</a:t>
            </a:r>
            <a:r>
              <a:rPr lang="en-GB">
                <a:solidFill>
                  <a:schemeClr val="dk1"/>
                </a:solidFill>
              </a:rPr>
              <a:t> Tiny particles exhibit both wave and particle nature, leading to uncertainty in measurements.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>
                <a:solidFill>
                  <a:schemeClr val="dk1"/>
                </a:solidFill>
              </a:rPr>
              <a:t>Probabilistic Nature of Quantum Mechanics:</a:t>
            </a:r>
            <a:r>
              <a:rPr lang="en-GB">
                <a:solidFill>
                  <a:schemeClr val="dk1"/>
                </a:solidFill>
              </a:rPr>
              <a:t> Unlike classical mechanics (deterministic and realistic), quantum mechanics is probabilistic. For example, electrons in atoms are described by probability distributions (e.g., Gaussian-like orbitals), not fixed paths.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>
                <a:solidFill>
                  <a:schemeClr val="dk1"/>
                </a:solidFill>
              </a:rPr>
              <a:t>Einstein’s Objection:</a:t>
            </a:r>
            <a:r>
              <a:rPr lang="en-GB">
                <a:solidFill>
                  <a:schemeClr val="dk1"/>
                </a:solidFill>
              </a:rPr>
              <a:t> Einstein famously criticized quantum mechanics’ probabilistic nature, stating “God does not play dice.”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>
                <a:solidFill>
                  <a:schemeClr val="dk1"/>
                </a:solidFill>
              </a:rPr>
              <a:t>Classical Mechanics as a Limit:</a:t>
            </a:r>
            <a:r>
              <a:rPr lang="en-GB">
                <a:solidFill>
                  <a:schemeClr val="dk1"/>
                </a:solidFill>
              </a:rPr>
              <a:t> Classical mechanics emerges as an approximation of quantum mechanics under certain conditions (large mass, low speed).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/>
        </p:nvSpPr>
        <p:spPr>
          <a:xfrm>
            <a:off x="457200" y="195950"/>
            <a:ext cx="8229600" cy="42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dk2"/>
                </a:solidFill>
              </a:rPr>
              <a:t>Relativistic Quantum Mechanics</a:t>
            </a:r>
            <a:endParaRPr b="1" sz="3000">
              <a:solidFill>
                <a:schemeClr val="dk2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GB" sz="2400">
                <a:solidFill>
                  <a:schemeClr val="dk1"/>
                </a:solidFill>
              </a:rPr>
              <a:t>Need for Relativity:</a:t>
            </a:r>
            <a:r>
              <a:rPr lang="en-GB" sz="2400">
                <a:solidFill>
                  <a:schemeClr val="dk1"/>
                </a:solidFill>
              </a:rPr>
              <a:t> At speeds close to the speed of light (e.g., photons), classical quantum mechanics is insufficient, requiring relativistic quantum mechanics.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GB" sz="2400">
                <a:solidFill>
                  <a:schemeClr val="dk1"/>
                </a:solidFill>
              </a:rPr>
              <a:t>Special Relativity:</a:t>
            </a:r>
            <a:r>
              <a:rPr lang="en-GB" sz="2400">
                <a:solidFill>
                  <a:schemeClr val="dk1"/>
                </a:solidFill>
              </a:rPr>
              <a:t> Developed by Einstein (building on earlier work by Lorentz), it addresses physics at high velocities and resolves inconsistencies in classical mechanics.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/>
        </p:nvSpPr>
        <p:spPr>
          <a:xfrm>
            <a:off x="457200" y="195950"/>
            <a:ext cx="8229600" cy="43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chemeClr val="dk2"/>
                </a:solidFill>
              </a:rPr>
              <a:t>Maxwell’s Equations and Electrodynamics</a:t>
            </a:r>
            <a:endParaRPr b="1" sz="30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>
                <a:solidFill>
                  <a:schemeClr val="dk1"/>
                </a:solidFill>
              </a:rPr>
              <a:t>Maxwell’s Contributions:</a:t>
            </a:r>
            <a:r>
              <a:rPr lang="en-GB">
                <a:solidFill>
                  <a:schemeClr val="dk1"/>
                </a:solidFill>
              </a:rPr>
              <a:t> Unified electricity and magnetism into electromagnetism; formulated Maxwell’s equations describing electric and magnetic fields.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>
                <a:solidFill>
                  <a:schemeClr val="dk1"/>
                </a:solidFill>
              </a:rPr>
              <a:t>Key Equations: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Divergence of electric field relates to charge density.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Magnetic field has zero divergence.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Changing magnetic fields induce electric fields (Faraday’s law).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Changing electric fields and currents induce magnetic fields (Maxwell’s correction).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>
                <a:solidFill>
                  <a:schemeClr val="dk1"/>
                </a:solidFill>
              </a:rPr>
              <a:t>Electromagnetic Waves:</a:t>
            </a:r>
            <a:r>
              <a:rPr lang="en-GB">
                <a:solidFill>
                  <a:schemeClr val="dk1"/>
                </a:solidFill>
              </a:rPr>
              <a:t> Maxwell derived wave equations showing that light is an electromagnetic wave traveling at speed [ c = 2.9979 \times 10^8 \text{ m/s} ]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>
                <a:solidFill>
                  <a:schemeClr val="dk1"/>
                </a:solidFill>
              </a:rPr>
              <a:t>Electromagnetic Spectrum:</a:t>
            </a:r>
            <a:r>
              <a:rPr lang="en-GB">
                <a:solidFill>
                  <a:schemeClr val="dk1"/>
                </a:solidFill>
              </a:rPr>
              <a:t> Includes radio waves, microwaves, visible light, gamma rays, etc.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>
                <a:solidFill>
                  <a:schemeClr val="dk1"/>
                </a:solidFill>
              </a:rPr>
              <a:t>Electrodynamics:</a:t>
            </a:r>
            <a:r>
              <a:rPr lang="en-GB">
                <a:solidFill>
                  <a:schemeClr val="dk1"/>
                </a:solidFill>
              </a:rPr>
              <a:t> Magnetic fields are manifestations of varying electric fields; both originate from charges in motion.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/>
        </p:nvSpPr>
        <p:spPr>
          <a:xfrm>
            <a:off x="457200" y="195950"/>
            <a:ext cx="8229600" cy="38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2"/>
                </a:solidFill>
              </a:rPr>
              <a:t>The Problem of Absolute Motion and the Aether</a:t>
            </a:r>
            <a:endParaRPr b="1" sz="24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 sz="1800">
                <a:solidFill>
                  <a:schemeClr val="dk1"/>
                </a:solidFill>
              </a:rPr>
              <a:t>Classical Relativity:</a:t>
            </a:r>
            <a:r>
              <a:rPr lang="en-GB" sz="1800">
                <a:solidFill>
                  <a:schemeClr val="dk1"/>
                </a:solidFill>
              </a:rPr>
              <a:t> Motion is relative to a frame of reference.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 sz="1800">
                <a:solidFill>
                  <a:schemeClr val="dk1"/>
                </a:solidFill>
              </a:rPr>
              <a:t>Aether Hypothesis:</a:t>
            </a:r>
            <a:r>
              <a:rPr lang="en-GB" sz="1800">
                <a:solidFill>
                  <a:schemeClr val="dk1"/>
                </a:solidFill>
              </a:rPr>
              <a:t> Proposed medium for light propagation.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 sz="1800">
                <a:solidFill>
                  <a:schemeClr val="dk1"/>
                </a:solidFill>
              </a:rPr>
              <a:t>Michelson-Morley Experiment (1887):</a:t>
            </a:r>
            <a:r>
              <a:rPr lang="en-GB" sz="1800">
                <a:solidFill>
                  <a:schemeClr val="dk1"/>
                </a:solidFill>
              </a:rPr>
              <a:t> Failed to detect aether, challenging classical assumptions.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 sz="1800">
                <a:solidFill>
                  <a:schemeClr val="dk1"/>
                </a:solidFill>
              </a:rPr>
              <a:t>Einstein’s Resolution:</a:t>
            </a:r>
            <a:r>
              <a:rPr lang="en-GB" sz="1800">
                <a:solidFill>
                  <a:schemeClr val="dk1"/>
                </a:solidFill>
              </a:rPr>
              <a:t> Speed of light is constant and absolute, independent of source or observer motion.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 sz="1800">
                <a:solidFill>
                  <a:schemeClr val="dk1"/>
                </a:solidFill>
              </a:rPr>
              <a:t>Implications:</a:t>
            </a:r>
            <a:r>
              <a:rPr lang="en-GB" sz="1800">
                <a:solidFill>
                  <a:schemeClr val="dk1"/>
                </a:solidFill>
              </a:rPr>
              <a:t> Motion is relative, but the speed of light is an invariant absolute speed.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/>
        </p:nvSpPr>
        <p:spPr>
          <a:xfrm>
            <a:off x="457200" y="195950"/>
            <a:ext cx="8229600" cy="4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chemeClr val="dk2"/>
                </a:solidFill>
              </a:rPr>
              <a:t>Einstein’s Special Theory of Relativity</a:t>
            </a:r>
            <a:endParaRPr b="1" sz="30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 sz="1800">
                <a:solidFill>
                  <a:schemeClr val="dk1"/>
                </a:solidFill>
              </a:rPr>
              <a:t>Key Postulate:</a:t>
            </a:r>
            <a:r>
              <a:rPr lang="en-GB" sz="1800">
                <a:solidFill>
                  <a:schemeClr val="dk1"/>
                </a:solidFill>
              </a:rPr>
              <a:t> Speed of light is constant in all inertial frames.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 sz="1800">
                <a:solidFill>
                  <a:schemeClr val="dk1"/>
                </a:solidFill>
              </a:rPr>
              <a:t>Relativity of Velocities:</a:t>
            </a:r>
            <a:r>
              <a:rPr lang="en-GB" sz="1800">
                <a:solidFill>
                  <a:schemeClr val="dk1"/>
                </a:solidFill>
              </a:rPr>
              <a:t> Classical addition of velocities fails at speeds close to ( c 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 sz="1800">
                <a:solidFill>
                  <a:schemeClr val="dk1"/>
                </a:solidFill>
              </a:rPr>
              <a:t>Time Dilation and Length Contraction:</a:t>
            </a:r>
            <a:r>
              <a:rPr lang="en-GB" sz="1800">
                <a:solidFill>
                  <a:schemeClr val="dk1"/>
                </a:solidFill>
              </a:rPr>
              <a:t> Time intervals and lengths depend on the observer’s frame of reference.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 sz="1800">
                <a:solidFill>
                  <a:schemeClr val="dk1"/>
                </a:solidFill>
              </a:rPr>
              <a:t>Example - Particle Lifetime:</a:t>
            </a:r>
            <a:r>
              <a:rPr lang="en-GB" sz="1800">
                <a:solidFill>
                  <a:schemeClr val="dk1"/>
                </a:solidFill>
              </a:rPr>
              <a:t> Particles created in the sun with short lifetimes reach Earth due to time dilation.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 sz="1800">
                <a:solidFill>
                  <a:schemeClr val="dk1"/>
                </a:solidFill>
              </a:rPr>
              <a:t>Space and Time:</a:t>
            </a:r>
            <a:r>
              <a:rPr lang="en-GB" sz="1800">
                <a:solidFill>
                  <a:schemeClr val="dk1"/>
                </a:solidFill>
              </a:rPr>
              <a:t> Unlike Newton’s absolute and static space, Einstein’s space is dynamic and responsive.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 txBox="1"/>
          <p:nvPr/>
        </p:nvSpPr>
        <p:spPr>
          <a:xfrm>
            <a:off x="457200" y="195950"/>
            <a:ext cx="8229600" cy="50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chemeClr val="dk2"/>
                </a:solidFill>
              </a:rPr>
              <a:t>Key Points</a:t>
            </a:r>
            <a:endParaRPr b="1" sz="3000">
              <a:solidFill>
                <a:schemeClr val="dk2"/>
              </a:solidFill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-GB" sz="900">
                <a:solidFill>
                  <a:schemeClr val="dk1"/>
                </a:solidFill>
              </a:rPr>
              <a:t>Velocity addition modified at relativistic speeds.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-GB" sz="900">
                <a:solidFill>
                  <a:schemeClr val="dk1"/>
                </a:solidFill>
              </a:rPr>
              <a:t>Time dilation and length contraction explained.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-GB" sz="900">
                <a:solidFill>
                  <a:schemeClr val="dk1"/>
                </a:solidFill>
              </a:rPr>
              <a:t>Resolves paradoxes in particle lifetime and cosmic observations.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-GB" sz="900">
                <a:solidFill>
                  <a:schemeClr val="dk1"/>
                </a:solidFill>
              </a:rPr>
              <a:t>Concept of Space:</a:t>
            </a:r>
            <a:endParaRPr b="1" sz="900">
              <a:solidFill>
                <a:schemeClr val="dk1"/>
              </a:solidFill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-GB" sz="900">
                <a:solidFill>
                  <a:schemeClr val="dk1"/>
                </a:solidFill>
              </a:rPr>
              <a:t>Newton: absolute, static.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-GB" sz="900">
                <a:solidFill>
                  <a:schemeClr val="dk1"/>
                </a:solidFill>
              </a:rPr>
              <a:t>Einstein: dynamic, responsive.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-GB" sz="900">
                <a:solidFill>
                  <a:schemeClr val="dk1"/>
                </a:solidFill>
              </a:rPr>
              <a:t>De Broglie Hypothesis:</a:t>
            </a:r>
            <a:endParaRPr b="1" sz="900">
              <a:solidFill>
                <a:schemeClr val="dk1"/>
              </a:solidFill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-GB" sz="900">
                <a:solidFill>
                  <a:schemeClr val="dk1"/>
                </a:solidFill>
              </a:rPr>
              <a:t>( p = h / lambda )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-GB" sz="900">
                <a:solidFill>
                  <a:schemeClr val="dk1"/>
                </a:solidFill>
              </a:rPr>
              <a:t>Wave-particle duality concept.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-GB" sz="900">
                <a:solidFill>
                  <a:schemeClr val="dk1"/>
                </a:solidFill>
              </a:rPr>
              <a:t>Transition from hypothesis → theory → law.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-GB" sz="900">
                <a:solidFill>
                  <a:schemeClr val="dk1"/>
                </a:solidFill>
              </a:rPr>
              <a:t>Schrödinger’s Wave Equation:</a:t>
            </a:r>
            <a:endParaRPr b="1" sz="900">
              <a:solidFill>
                <a:schemeClr val="dk1"/>
              </a:solidFill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-GB" sz="900">
                <a:solidFill>
                  <a:schemeClr val="dk1"/>
                </a:solidFill>
              </a:rPr>
              <a:t>Derived from energy conservation ( H psi = E psi ).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-GB" sz="900">
                <a:solidFill>
                  <a:schemeClr val="dk1"/>
                </a:solidFill>
              </a:rPr>
              <a:t>Foundation of quantum mechanics.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-GB" sz="900">
                <a:solidFill>
                  <a:schemeClr val="dk1"/>
                </a:solidFill>
              </a:rPr>
              <a:t>Quantum Mechanics:</a:t>
            </a:r>
            <a:endParaRPr b="1" sz="900">
              <a:solidFill>
                <a:schemeClr val="dk1"/>
              </a:solidFill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-GB" sz="900">
                <a:solidFill>
                  <a:schemeClr val="dk1"/>
                </a:solidFill>
              </a:rPr>
              <a:t>Probabilistic interpretation of particle position.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-GB" sz="900">
                <a:solidFill>
                  <a:schemeClr val="dk1"/>
                </a:solidFill>
              </a:rPr>
              <a:t>Electron orbitals as probability distributions.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-GB" sz="900">
                <a:solidFill>
                  <a:schemeClr val="dk1"/>
                </a:solidFill>
              </a:rPr>
              <a:t>Relativistic Quantum Mechanics:</a:t>
            </a:r>
            <a:endParaRPr b="1" sz="900">
              <a:solidFill>
                <a:schemeClr val="dk1"/>
              </a:solidFill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-GB" sz="900">
                <a:solidFill>
                  <a:schemeClr val="dk1"/>
                </a:solidFill>
              </a:rPr>
              <a:t>Needed for particles moving near speed of light.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-GB" sz="900">
                <a:solidFill>
                  <a:schemeClr val="dk1"/>
                </a:solidFill>
              </a:rPr>
              <a:t>Maxwell’s Equations:</a:t>
            </a:r>
            <a:endParaRPr b="1" sz="900">
              <a:solidFill>
                <a:schemeClr val="dk1"/>
              </a:solidFill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-GB" sz="900">
                <a:solidFill>
                  <a:schemeClr val="dk1"/>
                </a:solidFill>
              </a:rPr>
              <a:t>Electric and magnetic fields coupled via changing fields.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-GB" sz="900">
                <a:solidFill>
                  <a:schemeClr val="dk1"/>
                </a:solidFill>
              </a:rPr>
              <a:t>Electromagnetic waves propagate at speed ( c ).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-GB" sz="900">
                <a:solidFill>
                  <a:schemeClr val="dk1"/>
                </a:solidFill>
              </a:rPr>
              <a:t>Aether Theory and its Disproof:</a:t>
            </a:r>
            <a:endParaRPr b="1" sz="900">
              <a:solidFill>
                <a:schemeClr val="dk1"/>
              </a:solidFill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-GB" sz="900">
                <a:solidFill>
                  <a:schemeClr val="dk1"/>
                </a:solidFill>
              </a:rPr>
              <a:t>Michelson-Morley experiment disproved aether.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-GB" sz="900">
                <a:solidFill>
                  <a:schemeClr val="dk1"/>
                </a:solidFill>
              </a:rPr>
              <a:t>Einstein’s Special Relativity:</a:t>
            </a:r>
            <a:endParaRPr b="1" sz="900">
              <a:solidFill>
                <a:schemeClr val="dk1"/>
              </a:solidFill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-GB" sz="900">
                <a:solidFill>
                  <a:schemeClr val="dk1"/>
                </a:solidFill>
              </a:rPr>
              <a:t>Speed of light constant and absolute.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