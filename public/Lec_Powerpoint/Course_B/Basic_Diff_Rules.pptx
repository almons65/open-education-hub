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ad58d8193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9ad58d8193_5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9ad58d8193_5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9ad58d8193_5_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9ad58d8193_5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9ad58d8193_5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9ad58d8193_5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9ad58d8193_5_1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9ad58d8193_3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9ad58d8193_3_1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9ad58d8193_3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9ad58d8193_3_1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9ad58d8193_3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9ad58d8193_3_2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9ad58d8193_3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9ad58d8193_3_2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9ad58d8193_3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9ad58d8193_3_3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722313" y="3305175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457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7" name="Google Shape;77;p17"/>
          <p:cNvSpPr txBox="1"/>
          <p:nvPr>
            <p:ph idx="2" type="body"/>
          </p:nvPr>
        </p:nvSpPr>
        <p:spPr>
          <a:xfrm>
            <a:off x="4648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85" name="Google Shape;85;p18"/>
          <p:cNvSpPr txBox="1"/>
          <p:nvPr>
            <p:ph idx="3" type="body"/>
          </p:nvPr>
        </p:nvSpPr>
        <p:spPr>
          <a:xfrm>
            <a:off x="4645025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4645025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87" name="Google Shape;87;p1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457200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457200" y="1076325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874764" y="-1217414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463778" y="1371600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272778" y="-609600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amazon.com/dp/B0CRL66XZD?tag=dtdgstoreid08-20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amazon.com/dp/B0CRL66XZD?tag=dtdgstoreid08-20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amazon.com/dp/B0CRL66XZD?tag=dtdgstoreid08-20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amazon.com/dp/B0FQ5FL97G?tag=dtdgstoreid08-20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 sz="5200"/>
              <a:t>Basic Differentiation Rules</a:t>
            </a:r>
            <a:endParaRPr sz="5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/>
          <p:nvPr/>
        </p:nvSpPr>
        <p:spPr>
          <a:xfrm>
            <a:off x="457200" y="28950"/>
            <a:ext cx="8229600" cy="32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Power Rule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Formula:</a:t>
            </a:r>
            <a:r>
              <a:rPr lang="en-GB" sz="1100">
                <a:solidFill>
                  <a:schemeClr val="dk1"/>
                </a:solidFill>
              </a:rPr>
              <a:t> dx{[x^n] = n /x^{n-1}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Examples: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1100">
                <a:solidFill>
                  <a:schemeClr val="dk1"/>
                </a:solidFill>
              </a:rPr>
              <a:t>Derivative of (x^2) is (2x)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1100">
                <a:solidFill>
                  <a:schemeClr val="dk1"/>
                </a:solidFill>
              </a:rPr>
              <a:t>Derivative of (x^3) is (3x^2)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1100">
                <a:solidFill>
                  <a:schemeClr val="dk1"/>
                </a:solidFill>
              </a:rPr>
              <a:t>Derivative of (x^4) is (4x^3)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1100">
                <a:solidFill>
                  <a:schemeClr val="dk1"/>
                </a:solidFill>
              </a:rPr>
              <a:t>Derivative of (x) (which is (x^1)) is 1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Constants multiplied by variables can be factored out.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Derivative of a constant is zero.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/>
          <p:nvPr/>
        </p:nvSpPr>
        <p:spPr>
          <a:xfrm>
            <a:off x="457200" y="42300"/>
            <a:ext cx="8229600" cy="29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Polynomial Functions</a:t>
            </a:r>
            <a:endParaRPr b="1" sz="40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solidFill>
                  <a:schemeClr val="dk1"/>
                </a:solidFill>
              </a:rPr>
              <a:t>Differentiate each term separately using the</a:t>
            </a:r>
            <a:r>
              <a:rPr lang="en-GB" sz="24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GB" sz="2400">
                <a:solidFill>
                  <a:schemeClr val="dk1"/>
                </a:solidFill>
              </a:rPr>
              <a:t>power rule.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GB" sz="2400">
                <a:solidFill>
                  <a:schemeClr val="dk1"/>
                </a:solidFill>
              </a:rPr>
              <a:t>Example:</a:t>
            </a:r>
            <a:r>
              <a:rPr lang="en-GB" sz="2400">
                <a:solidFill>
                  <a:schemeClr val="dk1"/>
                </a:solidFill>
              </a:rPr>
              <a:t> For (4x^5 + 7x^3 - 9x + 5), the derivative is: [ 20x^4 + 21x^2 - 9 ]</a:t>
            </a:r>
            <a:endParaRPr sz="24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 txBox="1"/>
          <p:nvPr/>
        </p:nvSpPr>
        <p:spPr>
          <a:xfrm>
            <a:off x="483925" y="0"/>
            <a:ext cx="82296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Radical Functions</a:t>
            </a:r>
            <a:endParaRPr b="1" sz="40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8"/>
          <p:cNvSpPr txBox="1"/>
          <p:nvPr/>
        </p:nvSpPr>
        <p:spPr>
          <a:xfrm>
            <a:off x="587850" y="1055400"/>
            <a:ext cx="82698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solidFill>
                  <a:schemeClr val="dk1"/>
                </a:solidFill>
              </a:rPr>
              <a:t>Rewrite radicals as fractional exponents.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solidFill>
                  <a:schemeClr val="dk1"/>
                </a:solidFill>
              </a:rPr>
              <a:t>Use the</a:t>
            </a:r>
            <a:r>
              <a:rPr lang="en-GB" sz="24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GB" sz="2400">
                <a:solidFill>
                  <a:schemeClr val="dk1"/>
                </a:solidFill>
              </a:rPr>
              <a:t>power rule with fractional exponents.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GB" sz="2400">
                <a:solidFill>
                  <a:schemeClr val="dk1"/>
                </a:solidFill>
              </a:rPr>
              <a:t>Examples:</a:t>
            </a:r>
            <a:endParaRPr b="1" sz="2400">
              <a:solidFill>
                <a:schemeClr val="dk1"/>
              </a:solidFill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en-GB" sz="2400">
                <a:solidFill>
                  <a:schemeClr val="dk1"/>
                </a:solidFill>
              </a:rPr>
              <a:t>sqrt{x} = x^½ , derivative is ½ x^-½  = 1/2x^½ </a:t>
            </a:r>
            <a:endParaRPr sz="2400">
              <a:solidFill>
                <a:schemeClr val="dk1"/>
              </a:solidFill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en-GB" sz="2400">
                <a:solidFill>
                  <a:schemeClr val="dk1"/>
                </a:solidFill>
              </a:rPr>
              <a:t>sqrt[7]/x^4 = x^{4/7}, derivative is 4/{7}x^-3/7 = {4}/{7}sqrt[7]{x^3}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9"/>
          <p:cNvSpPr txBox="1"/>
          <p:nvPr/>
        </p:nvSpPr>
        <p:spPr>
          <a:xfrm>
            <a:off x="483925" y="0"/>
            <a:ext cx="8229600" cy="3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Rational Functions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solidFill>
                  <a:schemeClr val="dk1"/>
                </a:solidFill>
              </a:rPr>
              <a:t>Rewrite expressions with variables in the denominator as negative exponents.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solidFill>
                  <a:schemeClr val="dk1"/>
                </a:solidFill>
              </a:rPr>
              <a:t>Apply the</a:t>
            </a:r>
            <a:r>
              <a:rPr lang="en-GB" sz="24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GB" sz="2400">
                <a:solidFill>
                  <a:schemeClr val="dk1"/>
                </a:solidFill>
              </a:rPr>
              <a:t>power rule.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GB" sz="2400">
                <a:solidFill>
                  <a:schemeClr val="dk1"/>
                </a:solidFill>
              </a:rPr>
              <a:t>Example:</a:t>
            </a:r>
            <a:r>
              <a:rPr lang="en-GB" sz="2400">
                <a:solidFill>
                  <a:schemeClr val="dk1"/>
                </a:solidFill>
              </a:rPr>
              <a:t> 1/x^5 = x^-5,  -5x^{-6} = -5/x^6</a:t>
            </a:r>
            <a:endParaRPr sz="24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0"/>
          <p:cNvSpPr txBox="1"/>
          <p:nvPr/>
        </p:nvSpPr>
        <p:spPr>
          <a:xfrm>
            <a:off x="457200" y="-100200"/>
            <a:ext cx="8229600" cy="50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Trigonometric Functions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solidFill>
                  <a:schemeClr val="dk1"/>
                </a:solidFill>
              </a:rPr>
              <a:t>sin x/dx = cos x 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solidFill>
                  <a:schemeClr val="dk1"/>
                </a:solidFill>
              </a:rPr>
              <a:t>cos x/dx = -sin x 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solidFill>
                  <a:schemeClr val="dk1"/>
                </a:solidFill>
              </a:rPr>
              <a:t>tan x/dx = sec^2 x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solidFill>
                  <a:schemeClr val="dk1"/>
                </a:solidFill>
              </a:rPr>
              <a:t>cot x/dx = -csc^2 x 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solidFill>
                  <a:schemeClr val="dk1"/>
                </a:solidFill>
              </a:rPr>
              <a:t>sec x/dx = sec x / tan x 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solidFill>
                  <a:schemeClr val="dk1"/>
                </a:solidFill>
              </a:rPr>
              <a:t>csc x/dx = -csc x / cot x 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GB" sz="2400">
                <a:solidFill>
                  <a:schemeClr val="dk1"/>
                </a:solidFill>
              </a:rPr>
              <a:t>Note:</a:t>
            </a:r>
            <a:r>
              <a:rPr lang="en-GB" sz="24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GB" sz="2400">
                <a:solidFill>
                  <a:schemeClr val="dk1"/>
                </a:solidFill>
              </a:rPr>
              <a:t>starting with ‘c’ have derivatives with a negative sign.</a:t>
            </a:r>
            <a:endParaRPr sz="24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1"/>
          <p:cNvSpPr txBox="1"/>
          <p:nvPr/>
        </p:nvSpPr>
        <p:spPr>
          <a:xfrm>
            <a:off x="457200" y="-100200"/>
            <a:ext cx="8229600" cy="61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Exponential Functions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GB" sz="2400">
                <a:solidFill>
                  <a:schemeClr val="dk1"/>
                </a:solidFill>
              </a:rPr>
              <a:t>Formula:</a:t>
            </a:r>
            <a:r>
              <a:rPr lang="en-GB" sz="2400">
                <a:solidFill>
                  <a:schemeClr val="dk1"/>
                </a:solidFill>
              </a:rPr>
              <a:t> e^u/dx = e^u where (u) is a function of (x).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GB" sz="2400">
                <a:solidFill>
                  <a:schemeClr val="dk1"/>
                </a:solidFill>
              </a:rPr>
              <a:t>Examples:</a:t>
            </a:r>
            <a:endParaRPr b="1" sz="2400">
              <a:solidFill>
                <a:schemeClr val="dk1"/>
              </a:solidFill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en-GB" sz="2400">
                <a:solidFill>
                  <a:schemeClr val="dk1"/>
                </a:solidFill>
              </a:rPr>
              <a:t>Derivative of (e^x) is (e^x).</a:t>
            </a:r>
            <a:endParaRPr sz="2400">
              <a:solidFill>
                <a:schemeClr val="dk1"/>
              </a:solidFill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en-GB" sz="2400">
                <a:solidFill>
                  <a:schemeClr val="dk1"/>
                </a:solidFill>
              </a:rPr>
              <a:t>Derivative of (e^{7x}) is (7 e^{7x}).</a:t>
            </a:r>
            <a:endParaRPr sz="2400">
              <a:solidFill>
                <a:schemeClr val="dk1"/>
              </a:solidFill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en-GB" sz="2400">
                <a:solidFill>
                  <a:schemeClr val="dk1"/>
                </a:solidFill>
              </a:rPr>
              <a:t>Derivative of (e^{4x+3}) is (4 e^{4x+3}).</a:t>
            </a:r>
            <a:endParaRPr sz="2400">
              <a:solidFill>
                <a:schemeClr val="dk1"/>
              </a:solidFill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en-GB" sz="2400">
                <a:solidFill>
                  <a:schemeClr val="dk1"/>
                </a:solidFill>
              </a:rPr>
              <a:t>Derivative of (e^{x^2}) is (2x e^{x^2}).</a:t>
            </a:r>
            <a:endParaRPr sz="2400">
              <a:solidFill>
                <a:schemeClr val="dk1"/>
              </a:solidFill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en-GB" sz="2400">
                <a:solidFill>
                  <a:schemeClr val="dk1"/>
                </a:solidFill>
              </a:rPr>
              <a:t>Derivative of (5 e^{x^3}) is (15 x^2 e^{x^3}).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b="1" lang="en-GB" sz="2400">
                <a:solidFill>
                  <a:schemeClr val="dk1"/>
                </a:solidFill>
              </a:rPr>
            </a:br>
            <a:endParaRPr b="1" sz="24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2"/>
          <p:cNvSpPr txBox="1"/>
          <p:nvPr/>
        </p:nvSpPr>
        <p:spPr>
          <a:xfrm>
            <a:off x="457200" y="-100200"/>
            <a:ext cx="8229600" cy="37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Natural Logarithmic Functions</a:t>
            </a:r>
            <a:endParaRPr sz="1000"/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GB" sz="2400">
                <a:solidFill>
                  <a:schemeClr val="dk1"/>
                </a:solidFill>
              </a:rPr>
              <a:t>Formula:</a:t>
            </a:r>
            <a:r>
              <a:rPr lang="en-GB" sz="2400">
                <a:solidFill>
                  <a:schemeClr val="dk1"/>
                </a:solidFill>
              </a:rPr>
              <a:t> ln u/dx = u/u where (u) is a function of (x).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GB" sz="2400">
                <a:solidFill>
                  <a:schemeClr val="dk1"/>
                </a:solidFill>
              </a:rPr>
              <a:t>Examples:</a:t>
            </a:r>
            <a:endParaRPr b="1" sz="2400">
              <a:solidFill>
                <a:schemeClr val="dk1"/>
              </a:solidFill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en-GB" sz="2400">
                <a:solidFill>
                  <a:schemeClr val="dk1"/>
                </a:solidFill>
              </a:rPr>
              <a:t>Derivative of ln x is 1/x.</a:t>
            </a:r>
            <a:endParaRPr sz="2400">
              <a:solidFill>
                <a:schemeClr val="dk1"/>
              </a:solidFill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en-GB" sz="2400">
                <a:solidFill>
                  <a:schemeClr val="dk1"/>
                </a:solidFill>
              </a:rPr>
              <a:t>Derivative of ln (x^2 + 5) is 2x/x^2 + 5.</a:t>
            </a:r>
            <a:endParaRPr sz="2400">
              <a:solidFill>
                <a:schemeClr val="dk1"/>
              </a:solidFill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en-GB" sz="2400">
                <a:solidFill>
                  <a:schemeClr val="dk1"/>
                </a:solidFill>
              </a:rPr>
              <a:t>Derivative of 3 / ln (5x + 4) is 15 / (5x + 4).</a:t>
            </a:r>
            <a:endParaRPr sz="24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3"/>
          <p:cNvSpPr txBox="1"/>
          <p:nvPr/>
        </p:nvSpPr>
        <p:spPr>
          <a:xfrm>
            <a:off x="457200" y="-100200"/>
            <a:ext cx="8229600" cy="42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Product Rule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solidFill>
                  <a:schemeClr val="dk1"/>
                </a:solidFill>
              </a:rPr>
              <a:t>Used when differentiating the product of two functions (u) and (v).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GB" sz="2400">
                <a:solidFill>
                  <a:schemeClr val="dk1"/>
                </a:solidFill>
              </a:rPr>
              <a:t>Formula:</a:t>
            </a:r>
            <a:r>
              <a:rPr lang="en-GB" sz="2400">
                <a:solidFill>
                  <a:schemeClr val="dk1"/>
                </a:solidFill>
              </a:rPr>
              <a:t> uv d dx = u’v + uv’ 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GB" sz="2400">
                <a:solidFill>
                  <a:schemeClr val="dk1"/>
                </a:solidFill>
              </a:rPr>
              <a:t>Examples:</a:t>
            </a:r>
            <a:endParaRPr b="1" sz="2400">
              <a:solidFill>
                <a:schemeClr val="dk1"/>
              </a:solidFill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en-GB" sz="2400">
                <a:solidFill>
                  <a:schemeClr val="dk1"/>
                </a:solidFill>
              </a:rPr>
              <a:t>Derivative of (x^2 / sin x) is [ 2x / sin x + x^2 / cos x ]</a:t>
            </a:r>
            <a:endParaRPr sz="2400">
              <a:solidFill>
                <a:schemeClr val="dk1"/>
              </a:solidFill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en-GB" sz="2400">
                <a:solidFill>
                  <a:schemeClr val="dk1"/>
                </a:solidFill>
              </a:rPr>
              <a:t>Derivative of (x^3 / ln x) is [ 3x^2 / ln x + x^2 ]</a:t>
            </a:r>
            <a:endParaRPr sz="24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