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d58d8193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ad58d8193_5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d58d8193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ad58d8193_3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d58d8193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ad58d8193_3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d58d8193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ad58d8193_3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amazon.com/dp/B07FM2QFQK?tag=dtdgstoreid08-2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amazon.com/dp/B07FM2QFQK?tag=dtdgstoreid08-20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amazon.com/dp/B09NS18D6Z?tag=dtdgstoreid08-20" TargetMode="External"/><Relationship Id="rId4" Type="http://schemas.openxmlformats.org/officeDocument/2006/relationships/hyperlink" Target="https://www.amazon.com/dp/1975076516?tag=dtdgstoreid08-20" TargetMode="External"/><Relationship Id="rId5" Type="http://schemas.openxmlformats.org/officeDocument/2006/relationships/hyperlink" Target="https://www.amazon.com/dp/B07FM2QFQK?tag=dtdgstoreid08-20" TargetMode="External"/><Relationship Id="rId6" Type="http://schemas.openxmlformats.org/officeDocument/2006/relationships/hyperlink" Target="https://www.amazon.com/dp/B09NS18D6Z?tag=dtdgstoreid08-20" TargetMode="External"/><Relationship Id="rId7" Type="http://schemas.openxmlformats.org/officeDocument/2006/relationships/hyperlink" Target="https://www.amazon.com/dp/B07FM2QFQK?tag=dtdgstoreid08-20" TargetMode="External"/><Relationship Id="rId8" Type="http://schemas.openxmlformats.org/officeDocument/2006/relationships/hyperlink" Target="https://www.amazon.com/dp/B09NS18D6Z?tag=dtdgstoreid08-20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amazon.com/dp/B07FM2QFQK?tag=dtdgstoreid08-20" TargetMode="External"/><Relationship Id="rId4" Type="http://schemas.openxmlformats.org/officeDocument/2006/relationships/hyperlink" Target="https://www.amazon.com/dp/1975076516?tag=dtdgstoreid08-20" TargetMode="External"/><Relationship Id="rId5" Type="http://schemas.openxmlformats.org/officeDocument/2006/relationships/hyperlink" Target="https://www.amazon.com/dp/1423203100?tag=dtdgstoreid08-20" TargetMode="External"/><Relationship Id="rId6" Type="http://schemas.openxmlformats.org/officeDocument/2006/relationships/hyperlink" Target="https://www.amazon.com/dp/B09NS18D6Z?tag=dtdgstoreid08-2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amazon.com/dp/B09NS18D6Z?tag=dtdgstoreid08-20" TargetMode="External"/><Relationship Id="rId4" Type="http://schemas.openxmlformats.org/officeDocument/2006/relationships/hyperlink" Target="https://www.amazon.com/dp/B09NS18D6Z?tag=dtdgstoreid08-20" TargetMode="External"/><Relationship Id="rId5" Type="http://schemas.openxmlformats.org/officeDocument/2006/relationships/hyperlink" Target="https://www.amazon.com/dp/B09NS18D6Z?tag=dtdgstoreid08-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5200"/>
              <a:t>Lenz’s Law</a:t>
            </a:r>
            <a:endParaRPr sz="5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457200" y="28950"/>
            <a:ext cx="8229600" cy="3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Lenz’s law states that an induced electromotive force (emf) in a coil always generates a current whose magnetic field opposes the original change in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magnetic flux that caused it. This reflects the conservation of energy and the system’s tendency to maintain equilibrium.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457200" y="42300"/>
            <a:ext cx="8229600" cy="3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Magnetic Flux and Induced emf</a:t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Magnetic flux through a coil depends on the magnetic field strength and the coil’s position relative to the field.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induced emf is proportional to the rate of change of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magnetic flux.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negative sign in Faraday’s law indicates the induced emf opposes the change in flux.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483925" y="0"/>
            <a:ext cx="82296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2"/>
                </a:solidFill>
              </a:rPr>
              <a:t>Determining Direction of</a:t>
            </a:r>
            <a:r>
              <a:rPr b="1" lang="en-GB" sz="2200">
                <a:solidFill>
                  <a:schemeClr val="dk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GB" sz="2200">
                <a:solidFill>
                  <a:schemeClr val="dk2"/>
                </a:solidFill>
              </a:rPr>
              <a:t>Induced Current Using</a:t>
            </a:r>
            <a:r>
              <a:rPr b="1" lang="en-GB" sz="2200">
                <a:solidFill>
                  <a:schemeClr val="dk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GB" sz="2200">
                <a:solidFill>
                  <a:schemeClr val="dk2"/>
                </a:solidFill>
              </a:rPr>
              <a:t>Lenz’s Law</a:t>
            </a:r>
            <a:endParaRPr b="1"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587850" y="1055400"/>
            <a:ext cx="82698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If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magnetic flux </a:t>
            </a:r>
            <a:r>
              <a:rPr b="1" lang="en-GB" sz="1800">
                <a:solidFill>
                  <a:schemeClr val="dk1"/>
                </a:solidFill>
              </a:rPr>
              <a:t>increases</a:t>
            </a:r>
            <a:r>
              <a:rPr lang="en-GB" sz="1800">
                <a:solidFill>
                  <a:schemeClr val="dk1"/>
                </a:solidFill>
              </a:rPr>
              <a:t>, the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induced current creates a magnetic field </a:t>
            </a:r>
            <a:r>
              <a:rPr b="1" lang="en-GB" sz="1800">
                <a:solidFill>
                  <a:schemeClr val="dk1"/>
                </a:solidFill>
              </a:rPr>
              <a:t>opposing</a:t>
            </a:r>
            <a:r>
              <a:rPr lang="en-GB" sz="1800">
                <a:solidFill>
                  <a:schemeClr val="dk1"/>
                </a:solidFill>
              </a:rPr>
              <a:t> the increase (opposite direction).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If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magnetic flux </a:t>
            </a:r>
            <a:r>
              <a:rPr b="1" lang="en-GB" sz="1800">
                <a:solidFill>
                  <a:schemeClr val="dk1"/>
                </a:solidFill>
              </a:rPr>
              <a:t>decreases</a:t>
            </a:r>
            <a:r>
              <a:rPr lang="en-GB" sz="1800">
                <a:solidFill>
                  <a:schemeClr val="dk1"/>
                </a:solidFill>
              </a:rPr>
              <a:t>, the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induced current creates a magnetic field </a:t>
            </a:r>
            <a:r>
              <a:rPr b="1" lang="en-GB" sz="1800">
                <a:solidFill>
                  <a:schemeClr val="dk1"/>
                </a:solidFill>
              </a:rPr>
              <a:t>supporting</a:t>
            </a:r>
            <a:r>
              <a:rPr lang="en-GB" sz="1800">
                <a:solidFill>
                  <a:schemeClr val="dk1"/>
                </a:solidFill>
              </a:rPr>
              <a:t> the original flux (same direction).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457200" y="-100200"/>
            <a:ext cx="8229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Right Hand Rule for Magnetic Fields Around Current-Carrying Wires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To find the direction of the magnetic field generated by a current: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Point your thumb in the direction of the current.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Your fingers curl in the direction of the magnetic field lines.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This rule helps relate current direction and magnetic field direction in coil segments.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457200" y="-100200"/>
            <a:ext cx="8229600" cy="5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How to determine Induced Current direction</a:t>
            </a:r>
            <a:endParaRPr sz="30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Identify the external magnetic field direction and whether the</a:t>
            </a:r>
            <a:r>
              <a:rPr b="1" lang="en-GB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magnetic flux through the coil is increasing or decreasing.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Apply</a:t>
            </a:r>
            <a:r>
              <a:rPr b="1" lang="en-GB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Lenz’s Law: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If flux is increasing → induced magnetic field opposes the increase (points opposite to external field).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If flux is decreasing → induced magnetic field supports the flux (points in the same direction as external field).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Represent the induced magnetic field inside the coil: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Use symbols: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 sz="1100">
                <a:solidFill>
                  <a:schemeClr val="dk1"/>
                </a:solidFill>
              </a:rPr>
              <a:t>“Dot” (•) for magnetic field coming out of the page.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-GB" sz="1100">
                <a:solidFill>
                  <a:schemeClr val="dk1"/>
                </a:solidFill>
              </a:rPr>
              <a:t>“Cross” (×) for magnetic field going into the page.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Use the</a:t>
            </a:r>
            <a:r>
              <a:rPr b="1" lang="en-GB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right hand rule to determine the direction of the</a:t>
            </a:r>
            <a:r>
              <a:rPr b="1" lang="en-GB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induced current in the coil: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Wrap your right hand around the coil or wire segment.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Thumb points in the direction of the current.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Fingers curl in the direction of the magnetic field.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Determine the direction of current flow in the coil: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Clockwise or counterclockwise depending on the induced magnetic field direction.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457200" y="-100200"/>
            <a:ext cx="82296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dk2"/>
                </a:solidFill>
              </a:rPr>
              <a:t>Examples</a:t>
            </a:r>
            <a:endParaRPr b="1" sz="20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Ex1:</a:t>
            </a:r>
            <a:r>
              <a:rPr lang="en-GB" sz="1100">
                <a:solidFill>
                  <a:schemeClr val="dk1"/>
                </a:solidFill>
              </a:rPr>
              <a:t> Coil moving into a region with a magnetic field pointing out of the page → flux increases →</a:t>
            </a: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induced current creates a magnetic field into the page → current flows clockwise.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Ex2:</a:t>
            </a:r>
            <a:r>
              <a:rPr lang="en-GB" sz="1100">
                <a:solidFill>
                  <a:schemeClr val="dk1"/>
                </a:solidFill>
              </a:rPr>
              <a:t> Coil moving away from a magnetic field pointing into the page → flux decreases →</a:t>
            </a: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induced current creates a magnetic field into the page (same direction as external field) → current flows clockwise.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Ex3:</a:t>
            </a:r>
            <a:r>
              <a:rPr lang="en-GB" sz="1100">
                <a:solidFill>
                  <a:schemeClr val="dk1"/>
                </a:solidFill>
              </a:rPr>
              <a:t> Circular coil above a long straight wire with current decreasing → magnetic field above wire is out of the page → flux decreases →</a:t>
            </a: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induced current creates magnetic field out of the page → current flows counterclockwise.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